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USDT0 is Tether's USDT delivered over LayerZero's OFT standard, built and operated by Everdawn Labs, live on Stellar mainnet since 2 September 2026. Today: how it works, what you can build against it, and a live tour of nine demos. About 25 minutes plus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Attribution matters: USDT0 is built and operated by Everdawn Labs, USDT is Tether's asset. Stress the mainnet-only point early, because every testnet demo later uses a mock called tUSDT0 and people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figures, 28 Sept 2026: 23,717 authorized trustlines (Horizon accounts.authorized); 2,565,274 USDT0 in 23 contracts plus 10,952 in accounts plus 239 in liquidity pools, about 2,576,465 total; every one of the 21 USDT0 networks with an EID has a peer set on the OFT; the registry lists 7 active DVN operators on Stellar mainnet: LayerZero Labs, Horizen, Nethermind, Canary, USDT0, Paxos and Canary Sponsored. Trustlines grew 75 percent in 17 days. Scan's latest-50 lists show USDT0 plus OApps it names PayPal and Ethena; say only what Scan labels. For volume, point to the Dune dashboard and the Omnichain Dashboard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MintBurn on Stellar: there is no pre-existing USDT to lock, and a classic asset whose admin is a contract can mint and burn. No honeypot of locked tokens sits on Stellar. The invariant is the whole security story of an 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 decimal shared precision is USDT0's choice; the OFT stores it as shared_decimals with decimal_conversion_rate 10 on Stellar. The Explainer page has an interactive version of this table. Verified on mainnet: quote_oft of 10000001 stroops returns amount_sent_ld 10000000.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Explainer page animates this. Key point for a Stellar audience: verification is a configurable committee per application, not a single bridge operator, and steps 3 and 4 are permissionless. That is what lets the Tracker page offer a deliver-it-yourself button when an executor 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addresses are on the Inspector page, which re-verifies the relationships live: OFT.token() equals the SAC, SAC.admin() equals the SAC-manager, the issuer has weight 0 and no signers. Why the issuer is locked: a payment from the issuer is minting, so a live issuer key could bypass MINTER_ROLE. The OneSig multisig owns both the OFT and the SAC-manager.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calls from the CLI: stellar contract invoke with any G account as source-account runs a simulation without signing. The Inspector page shows every request and response behind each card. Prefer RPC over Horizon; Horizon is only needed for the aggregate asset stats.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send is a normal Soroban invocation: the wallet authorizes the OFT to burn on its behalf and pays the LayerZero native fee in XLM. On delivery the destination OFT checks the peer and mints or unlocks. If the recipient is a G account without a trustline, the message will not deliver until one exists, so quote and check before sending real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paste a delivered mainnet hash into the Tracker and walk the lifecycle. On testnet, show the deliver-it-yourself button and explain that it is the same commitVerification plus lzReceive pair the executor would call, signed by MetaMask.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first question from a Stellar developer is usually how this differs from CCTP. Keep it neutral: one has a single trusted attester run by the issuer, the other has a configurable committee chosen per application. Both settle as real burns and mints, not wrapped 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The badge in the top right tells the audience which mode a page is in, so nobody mistakes the mock tUSDT0 for the real asset. The ninth page, Compose, was added on 29 September: an OFT transfer with a compose message lands in a Soroban vault that credits the sender's EVM address, and the same MetaMask key withdraws with a personal_sign signature verified by secp256k1_recover on Stellar.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call: Freighter on Test Net with XLM, MetaMask on Arbitrum Sepolia with a little ETH, a faucet drip already claimed (one hour cooldown), and the Tracker open on a delivered mainnet message. A real USDT0 one from 28 Sept, Stellar to Arbitrum, delivered: befef45e200af596169e24639e9a0e2befc5f72bc5e1c4f7ccfa76554f687d47. The Tracker's Try chips also list the latest live examples, but some are PayPal or Ethena OApps, so check the label. If the LayerZero Scan API is slow, the pages fall back to snapshots and say so; keep talking. Total 18 minutes leaves room for questions in a 45-minute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is documented in the README with the exact error code and the fix in code. Row 3 was found by the end-to-end script, not by the compiler: the Postcard OApp shipped once without combine_options. Row 5 is why the whole testnet side now runs against Arbitrum Sepolia; the Sepolia contracts stay deployed but unused.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CONTRIBUTING.md lists five extension ideas with the exact files to start from. The three shown here are the ones that fit a weekend. The repo has no backend and no secrets in the bundle, so a fork deploys to GitHub Pages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 Likely questions: fees in XLM versus destination gas, what happens if a DVN goes offline (the message waits; nothing is lost), whether USDT0 will come to testnet (no, mock it), and how this compares with CCTP (comparison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6"/>
        </a:solidFill>
      </p:bgPr>
    </p:bg>
    <p:spTree>
      <p:nvGrpSpPr>
        <p:cNvPr id="1" name=""/>
        <p:cNvGrpSpPr/>
        <p:nvPr/>
      </p:nvGrpSpPr>
      <p:grpSpPr>
        <a:xfrm>
          <a:off x="0" y="0"/>
          <a:ext cx="0" cy="0"/>
          <a:chOff x="0" y="0"/>
          <a:chExt cx="0" cy="0"/>
        </a:xfrm>
      </p:grpSpPr>
      <p:sp>
        <p:nvSpPr>
          <p:cNvPr id="3" name="Shape 0"/>
          <p:cNvSpPr/>
          <p:nvPr/>
        </p:nvSpPr>
        <p:spPr>
          <a:xfrm>
            <a:off x="548640" y="1737360"/>
            <a:ext cx="822960" cy="73152"/>
          </a:xfrm>
          <a:prstGeom prst="roundRect">
            <a:avLst>
              <a:gd name="adj" fmla="val 50000"/>
            </a:avLst>
          </a:prstGeom>
          <a:solidFill>
            <a:srgbClr val="9E8CFC"/>
          </a:solidFill>
          <a:ln w="12700">
            <a:solidFill>
              <a:srgbClr val="9E8CFC"/>
            </a:solidFill>
            <a:prstDash val="solid"/>
          </a:ln>
        </p:spPr>
      </p:sp>
      <p:sp>
        <p:nvSpPr>
          <p:cNvPr id="4" name="Text 1"/>
          <p:cNvSpPr txBox="1"/>
          <p:nvPr/>
        </p:nvSpPr>
        <p:spPr>
          <a:xfrm>
            <a:off x="548640" y="1965960"/>
            <a:ext cx="11094415" cy="320040"/>
          </a:xfrm>
          <a:prstGeom prst="rect">
            <a:avLst/>
          </a:prstGeom>
          <a:noFill/>
          <a:ln/>
        </p:spPr>
        <p:txBody>
          <a:bodyPr wrap="square" lIns="0" tIns="0" rIns="0" bIns="0" rtlCol="0" anchor="ctr"/>
          <a:lstStyle/>
          <a:p>
            <a:pPr indent="0" marL="0">
              <a:buNone/>
            </a:pPr>
            <a:r>
              <a:rPr lang="en-US" sz="1200" b="1" spc="300" kern="0" dirty="0">
                <a:solidFill>
                  <a:srgbClr val="9E8CFC"/>
                </a:solidFill>
                <a:latin typeface="Inter" pitchFamily="34" charset="0"/>
                <a:ea typeface="Inter" pitchFamily="34" charset="-122"/>
                <a:cs typeface="Inter" pitchFamily="34" charset="-120"/>
              </a:rPr>
              <a:t>STELLAR DEVELOPERS MEETING · [DATE]</a:t>
            </a:r>
            <a:endParaRPr lang="en-US" sz="1200" dirty="0"/>
          </a:p>
        </p:txBody>
      </p:sp>
      <p:sp>
        <p:nvSpPr>
          <p:cNvPr id="5" name="Text 2"/>
          <p:cNvSpPr txBox="1"/>
          <p:nvPr/>
        </p:nvSpPr>
        <p:spPr>
          <a:xfrm>
            <a:off x="548640" y="2331720"/>
            <a:ext cx="11094415" cy="1188720"/>
          </a:xfrm>
          <a:prstGeom prst="rect">
            <a:avLst/>
          </a:prstGeom>
          <a:noFill/>
          <a:ln/>
        </p:spPr>
        <p:txBody>
          <a:bodyPr wrap="square" lIns="0" tIns="0" rIns="0" bIns="0" rtlCol="0" anchor="t"/>
          <a:lstStyle/>
          <a:p>
            <a:pPr indent="0" marL="0">
              <a:buNone/>
            </a:pPr>
            <a:r>
              <a:rPr lang="en-US" sz="6000" b="1" dirty="0">
                <a:solidFill>
                  <a:srgbClr val="EDEDED"/>
                </a:solidFill>
                <a:latin typeface="Inter" pitchFamily="34" charset="0"/>
                <a:ea typeface="Inter" pitchFamily="34" charset="-122"/>
                <a:cs typeface="Inter" pitchFamily="34" charset="-120"/>
              </a:rPr>
              <a:t>USDT0 on Stellar</a:t>
            </a:r>
            <a:endParaRPr lang="en-US" sz="6000" dirty="0"/>
          </a:p>
        </p:txBody>
      </p:sp>
      <p:sp>
        <p:nvSpPr>
          <p:cNvPr id="6" name="Text 3"/>
          <p:cNvSpPr txBox="1"/>
          <p:nvPr/>
        </p:nvSpPr>
        <p:spPr>
          <a:xfrm>
            <a:off x="548640" y="3611880"/>
            <a:ext cx="8412480" cy="1097280"/>
          </a:xfrm>
          <a:prstGeom prst="rect">
            <a:avLst/>
          </a:prstGeom>
          <a:noFill/>
          <a:ln/>
        </p:spPr>
        <p:txBody>
          <a:bodyPr wrap="square" lIns="0" tIns="0" rIns="0" bIns="0" rtlCol="0" anchor="t"/>
          <a:lstStyle/>
          <a:p>
            <a:pPr indent="0" marL="0">
              <a:lnSpc>
                <a:spcPct val="115000"/>
              </a:lnSpc>
              <a:buNone/>
            </a:pPr>
            <a:r>
              <a:rPr lang="en-US" sz="1800" dirty="0">
                <a:solidFill>
                  <a:srgbClr val="A0A0A0"/>
                </a:solidFill>
                <a:latin typeface="Inter" pitchFamily="34" charset="0"/>
                <a:ea typeface="Inter" pitchFamily="34" charset="-122"/>
                <a:cs typeface="Inter" pitchFamily="34" charset="-120"/>
              </a:rPr>
              <a:t>Tether's USDT delivered over LayerZero's OFT standard: how it works on Stellar, what a developer can read, send and track, and nine live demos you can fork.</a:t>
            </a:r>
            <a:endParaRPr lang="en-US" sz="1800" dirty="0"/>
          </a:p>
        </p:txBody>
      </p:sp>
      <p:sp>
        <p:nvSpPr>
          <p:cNvPr id="7" name="Text 4"/>
          <p:cNvSpPr txBox="1"/>
          <p:nvPr/>
        </p:nvSpPr>
        <p:spPr>
          <a:xfrm>
            <a:off x="548640" y="6172200"/>
            <a:ext cx="5486400" cy="320040"/>
          </a:xfrm>
          <a:prstGeom prst="rect">
            <a:avLst/>
          </a:prstGeom>
          <a:noFill/>
          <a:ln/>
        </p:spPr>
        <p:txBody>
          <a:bodyPr wrap="square" lIns="0" tIns="0" rIns="0" bIns="0" rtlCol="0" anchor="b"/>
          <a:lstStyle/>
          <a:p>
            <a:pPr indent="0" marL="0">
              <a:buNone/>
            </a:pPr>
            <a:r>
              <a:rPr lang="en-US" sz="1100" dirty="0">
                <a:solidFill>
                  <a:srgbClr val="A0A0A0"/>
                </a:solidFill>
                <a:latin typeface="Inter" pitchFamily="34" charset="0"/>
                <a:ea typeface="Inter" pitchFamily="34" charset="-122"/>
                <a:cs typeface="Inter" pitchFamily="34" charset="-120"/>
              </a:rPr>
              <a:t>Kaan Kacar · Stellar Development Foundation</a:t>
            </a:r>
            <a:endParaRPr lang="en-US" sz="1100" dirty="0"/>
          </a:p>
        </p:txBody>
      </p:sp>
      <p:sp>
        <p:nvSpPr>
          <p:cNvPr id="8" name="Text 5"/>
          <p:cNvSpPr txBox="1"/>
          <p:nvPr/>
        </p:nvSpPr>
        <p:spPr>
          <a:xfrm>
            <a:off x="6156655" y="6172200"/>
            <a:ext cx="5486400" cy="320040"/>
          </a:xfrm>
          <a:prstGeom prst="rect">
            <a:avLst/>
          </a:prstGeom>
          <a:noFill/>
          <a:ln/>
        </p:spPr>
        <p:txBody>
          <a:bodyPr wrap="square" lIns="0" tIns="0" rIns="0" bIns="0" rtlCol="0" anchor="b"/>
          <a:lstStyle/>
          <a:p>
            <a:pPr algn="r" indent="0" marL="0">
              <a:buNone/>
            </a:pPr>
            <a:r>
              <a:rPr lang="en-US" sz="1100" dirty="0">
                <a:solidFill>
                  <a:srgbClr val="A0A0A0"/>
                </a:solidFill>
                <a:latin typeface="Inconsolata" pitchFamily="34" charset="0"/>
                <a:ea typeface="Inconsolata" pitchFamily="34" charset="-122"/>
                <a:cs typeface="Inconsolata" pitchFamily="34" charset="-120"/>
              </a:rPr>
              <a:t>kaankacar.github.io/stellar-layerzero-demos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8"/>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6E56CF"/>
                </a:solidFill>
                <a:latin typeface="Inter" pitchFamily="34" charset="0"/>
                <a:ea typeface="Inter" pitchFamily="34" charset="-122"/>
                <a:cs typeface="Inter" pitchFamily="34" charset="-120"/>
              </a:rPr>
              <a:t>WHAT USDT0 IS</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171717"/>
                </a:solidFill>
                <a:latin typeface="Inter" pitchFamily="34" charset="0"/>
                <a:ea typeface="Inter" pitchFamily="34" charset="-122"/>
                <a:cs typeface="Inter" pitchFamily="34" charset="-120"/>
              </a:rPr>
              <a:t>One USDT supply, many chains, one message layer</a:t>
            </a:r>
            <a:endParaRPr lang="en-US" sz="3200" dirty="0"/>
          </a:p>
        </p:txBody>
      </p:sp>
      <p:sp>
        <p:nvSpPr>
          <p:cNvPr id="5" name="Text 2"/>
          <p:cNvSpPr txBox="1"/>
          <p:nvPr/>
        </p:nvSpPr>
        <p:spPr>
          <a:xfrm>
            <a:off x="548640" y="1691640"/>
            <a:ext cx="11094415" cy="1005840"/>
          </a:xfrm>
          <a:prstGeom prst="rect">
            <a:avLst/>
          </a:prstGeom>
          <a:noFill/>
          <a:ln/>
        </p:spPr>
        <p:txBody>
          <a:bodyPr wrap="square" lIns="0" tIns="0" rIns="0" bIns="0" rtlCol="0" anchor="t"/>
          <a:lstStyle/>
          <a:p>
            <a:pPr indent="0" marL="0">
              <a:lnSpc>
                <a:spcPct val="115000"/>
              </a:lnSpc>
              <a:buNone/>
            </a:pPr>
            <a:r>
              <a:rPr lang="en-US" sz="1500" dirty="0">
                <a:solidFill>
                  <a:srgbClr val="6F6F6F"/>
                </a:solidFill>
                <a:latin typeface="Inter" pitchFamily="34" charset="0"/>
                <a:ea typeface="Inter" pitchFamily="34" charset="-122"/>
                <a:cs typeface="Inter" pitchFamily="34" charset="-120"/>
              </a:rPr>
              <a:t>USDT0 is Tether's USDT delivered over LayerZero's Omnichain Fungible Token (OFT) standard. Canonical USDT stays locked in an adapter on Ethereum; every other chain holds USDT0 minted against it. Everdawn Labs builds and operates USDT0. USDT itself is Tether's asset.</a:t>
            </a:r>
            <a:endParaRPr lang="en-US" sz="1500" dirty="0"/>
          </a:p>
        </p:txBody>
      </p:sp>
      <p:sp>
        <p:nvSpPr>
          <p:cNvPr id="6" name="Shape 3"/>
          <p:cNvSpPr/>
          <p:nvPr/>
        </p:nvSpPr>
        <p:spPr>
          <a:xfrm>
            <a:off x="548640" y="2926080"/>
            <a:ext cx="3545738" cy="2377440"/>
          </a:xfrm>
          <a:prstGeom prst="roundRect">
            <a:avLst>
              <a:gd name="adj" fmla="val 4615"/>
            </a:avLst>
          </a:prstGeom>
          <a:solidFill>
            <a:srgbClr val="FCFCFC"/>
          </a:solidFill>
          <a:ln w="9525">
            <a:solidFill>
              <a:srgbClr val="E2E2E2"/>
            </a:solidFill>
            <a:prstDash val="solid"/>
          </a:ln>
        </p:spPr>
      </p:sp>
      <p:sp>
        <p:nvSpPr>
          <p:cNvPr id="7" name="Text 4"/>
          <p:cNvSpPr txBox="1"/>
          <p:nvPr/>
        </p:nvSpPr>
        <p:spPr>
          <a:xfrm>
            <a:off x="749808" y="3108960"/>
            <a:ext cx="3143402"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23 networks</a:t>
            </a:r>
            <a:endParaRPr lang="en-US" sz="1500" dirty="0"/>
          </a:p>
        </p:txBody>
      </p:sp>
      <p:sp>
        <p:nvSpPr>
          <p:cNvPr id="8" name="Text 5"/>
          <p:cNvSpPr txBox="1"/>
          <p:nvPr/>
        </p:nvSpPr>
        <p:spPr>
          <a:xfrm>
            <a:off x="749808" y="3493008"/>
            <a:ext cx="3143402" cy="1645920"/>
          </a:xfrm>
          <a:prstGeom prst="rect">
            <a:avLst/>
          </a:prstGeom>
          <a:noFill/>
          <a:ln/>
        </p:spPr>
        <p:txBody>
          <a:bodyPr wrap="square" lIns="0" tIns="0" rIns="0" bIns="0" rtlCol="0" anchor="t"/>
          <a:lstStyle/>
          <a:p>
            <a:pPr indent="0" marL="0">
              <a:lnSpc>
                <a:spcPct val="112000"/>
              </a:lnSpc>
              <a:buNone/>
            </a:pPr>
            <a:r>
              <a:rPr lang="en-US" sz="1300" dirty="0">
                <a:solidFill>
                  <a:srgbClr val="6F6F6F"/>
                </a:solidFill>
                <a:latin typeface="Inter" pitchFamily="34" charset="0"/>
                <a:ea typeface="Inter" pitchFamily="34" charset="-122"/>
                <a:cs typeface="Inter" pitchFamily="34" charset="-120"/>
              </a:rPr>
              <a:t>Listed at docs.usdt0.to (checked 10 September 2026). Stellar is one of them. HyperCore is listed but has no LayerZero endpoint id.</a:t>
            </a:r>
            <a:endParaRPr lang="en-US" sz="1300" dirty="0"/>
          </a:p>
        </p:txBody>
      </p:sp>
      <p:sp>
        <p:nvSpPr>
          <p:cNvPr id="9" name="Shape 6"/>
          <p:cNvSpPr/>
          <p:nvPr/>
        </p:nvSpPr>
        <p:spPr>
          <a:xfrm>
            <a:off x="4322978" y="2926080"/>
            <a:ext cx="3545738" cy="2377440"/>
          </a:xfrm>
          <a:prstGeom prst="roundRect">
            <a:avLst>
              <a:gd name="adj" fmla="val 4615"/>
            </a:avLst>
          </a:prstGeom>
          <a:solidFill>
            <a:srgbClr val="FCFCFC"/>
          </a:solidFill>
          <a:ln w="9525">
            <a:solidFill>
              <a:srgbClr val="E2E2E2"/>
            </a:solidFill>
            <a:prstDash val="solid"/>
          </a:ln>
        </p:spPr>
      </p:sp>
      <p:sp>
        <p:nvSpPr>
          <p:cNvPr id="10" name="Text 7"/>
          <p:cNvSpPr txBox="1"/>
          <p:nvPr/>
        </p:nvSpPr>
        <p:spPr>
          <a:xfrm>
            <a:off x="4524146" y="3108960"/>
            <a:ext cx="3143402"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Live on Stellar mainnet</a:t>
            </a:r>
            <a:endParaRPr lang="en-US" sz="1500" dirty="0"/>
          </a:p>
        </p:txBody>
      </p:sp>
      <p:sp>
        <p:nvSpPr>
          <p:cNvPr id="11" name="Text 8"/>
          <p:cNvSpPr txBox="1"/>
          <p:nvPr/>
        </p:nvSpPr>
        <p:spPr>
          <a:xfrm>
            <a:off x="4524146" y="3493008"/>
            <a:ext cx="3143402" cy="1645920"/>
          </a:xfrm>
          <a:prstGeom prst="rect">
            <a:avLst/>
          </a:prstGeom>
          <a:noFill/>
          <a:ln/>
        </p:spPr>
        <p:txBody>
          <a:bodyPr wrap="square" lIns="0" tIns="0" rIns="0" bIns="0" rtlCol="0" anchor="t"/>
          <a:lstStyle/>
          <a:p>
            <a:pPr indent="0" marL="0">
              <a:lnSpc>
                <a:spcPct val="112000"/>
              </a:lnSpc>
              <a:buNone/>
            </a:pPr>
            <a:r>
              <a:rPr lang="en-US" sz="1300" dirty="0">
                <a:solidFill>
                  <a:srgbClr val="6F6F6F"/>
                </a:solidFill>
                <a:latin typeface="Inter" pitchFamily="34" charset="0"/>
                <a:ea typeface="Inter" pitchFamily="34" charset="-122"/>
                <a:cs typeface="Inter" pitchFamily="34" charset="-120"/>
              </a:rPr>
              <a:t>Announced 2 September 2026. The issuer was created on 21 July, its admin handed to a contract on 26 July, and then the issuer key was locked.</a:t>
            </a:r>
            <a:endParaRPr lang="en-US" sz="1300" dirty="0"/>
          </a:p>
        </p:txBody>
      </p:sp>
      <p:sp>
        <p:nvSpPr>
          <p:cNvPr id="12" name="Shape 9"/>
          <p:cNvSpPr/>
          <p:nvPr/>
        </p:nvSpPr>
        <p:spPr>
          <a:xfrm>
            <a:off x="8097317" y="2926080"/>
            <a:ext cx="3545738" cy="2377440"/>
          </a:xfrm>
          <a:prstGeom prst="roundRect">
            <a:avLst>
              <a:gd name="adj" fmla="val 4615"/>
            </a:avLst>
          </a:prstGeom>
          <a:solidFill>
            <a:srgbClr val="FFF9ED"/>
          </a:solidFill>
          <a:ln w="9525">
            <a:solidFill>
              <a:srgbClr val="FFD386"/>
            </a:solidFill>
            <a:prstDash val="solid"/>
          </a:ln>
        </p:spPr>
      </p:sp>
      <p:sp>
        <p:nvSpPr>
          <p:cNvPr id="13" name="Text 10"/>
          <p:cNvSpPr txBox="1"/>
          <p:nvPr/>
        </p:nvSpPr>
        <p:spPr>
          <a:xfrm>
            <a:off x="8298485" y="3108960"/>
            <a:ext cx="3143402"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Mainnet only</a:t>
            </a:r>
            <a:endParaRPr lang="en-US" sz="1500" dirty="0"/>
          </a:p>
        </p:txBody>
      </p:sp>
      <p:sp>
        <p:nvSpPr>
          <p:cNvPr id="14" name="Text 11"/>
          <p:cNvSpPr txBox="1"/>
          <p:nvPr/>
        </p:nvSpPr>
        <p:spPr>
          <a:xfrm>
            <a:off x="8298485" y="3493008"/>
            <a:ext cx="3143402" cy="1645920"/>
          </a:xfrm>
          <a:prstGeom prst="rect">
            <a:avLst/>
          </a:prstGeom>
          <a:noFill/>
          <a:ln/>
        </p:spPr>
        <p:txBody>
          <a:bodyPr wrap="square" lIns="0" tIns="0" rIns="0" bIns="0" rtlCol="0" anchor="t"/>
          <a:lstStyle/>
          <a:p>
            <a:pPr indent="0" marL="0">
              <a:lnSpc>
                <a:spcPct val="112000"/>
              </a:lnSpc>
              <a:buNone/>
            </a:pPr>
            <a:r>
              <a:rPr lang="en-US" sz="1300" dirty="0">
                <a:solidFill>
                  <a:srgbClr val="6F6F6F"/>
                </a:solidFill>
                <a:latin typeface="Inter" pitchFamily="34" charset="0"/>
                <a:ea typeface="Inter" pitchFamily="34" charset="-122"/>
                <a:cs typeface="Inter" pitchFamily="34" charset="-120"/>
              </a:rPr>
              <a:t>There is no USDT0 on Stellar testnet. Anything called USDT0 there is somebody's mock. The LayerZero endpoint is live on testnet, so your own test OFTs work there.</a:t>
            </a:r>
            <a:endParaRPr lang="en-US" sz="1300" dirty="0"/>
          </a:p>
        </p:txBody>
      </p:sp>
      <p:sp>
        <p:nvSpPr>
          <p:cNvPr id="15" name="Text 12"/>
          <p:cNvSpPr txBox="1"/>
          <p:nvPr/>
        </p:nvSpPr>
        <p:spPr>
          <a:xfrm>
            <a:off x="548640" y="6172200"/>
            <a:ext cx="11094415" cy="320040"/>
          </a:xfrm>
          <a:prstGeom prst="rect">
            <a:avLst/>
          </a:prstGeom>
          <a:noFill/>
          <a:ln/>
        </p:spPr>
        <p:txBody>
          <a:bodyPr wrap="square" lIns="0" tIns="0" rIns="0" bIns="0" rtlCol="0" anchor="b"/>
          <a:lstStyle/>
          <a:p>
            <a:pPr indent="0" marL="0">
              <a:buNone/>
            </a:pPr>
            <a:r>
              <a:rPr lang="en-US" sz="1000" dirty="0">
                <a:solidFill>
                  <a:srgbClr val="6F6F6F"/>
                </a:solidFill>
                <a:latin typeface="Inter" pitchFamily="34" charset="0"/>
                <a:ea typeface="Inter" pitchFamily="34" charset="-122"/>
                <a:cs typeface="Inter" pitchFamily="34" charset="-120"/>
              </a:rPr>
              <a:t>Sources: docs.usdt0.to · developers.stellar.org/docs/tokens/usdt0-layerzero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16"/>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9E8CFC"/>
                </a:solidFill>
                <a:latin typeface="Inter" pitchFamily="34" charset="0"/>
                <a:ea typeface="Inter" pitchFamily="34" charset="-122"/>
                <a:cs typeface="Inter" pitchFamily="34" charset="-120"/>
              </a:rPr>
              <a:t>STELLAR · 28 SEPTEMBER 2026</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EDEDED"/>
                </a:solidFill>
                <a:latin typeface="Inter" pitchFamily="34" charset="0"/>
                <a:ea typeface="Inter" pitchFamily="34" charset="-122"/>
                <a:cs typeface="Inter" pitchFamily="34" charset="-120"/>
              </a:rPr>
              <a:t>Where USDT0 on Stellar stands today</a:t>
            </a:r>
            <a:endParaRPr lang="en-US" sz="3200" dirty="0"/>
          </a:p>
        </p:txBody>
      </p:sp>
      <p:sp>
        <p:nvSpPr>
          <p:cNvPr id="5" name="Shape 2"/>
          <p:cNvSpPr/>
          <p:nvPr/>
        </p:nvSpPr>
        <p:spPr>
          <a:xfrm>
            <a:off x="548640" y="1783080"/>
            <a:ext cx="2602154" cy="2286000"/>
          </a:xfrm>
          <a:prstGeom prst="roundRect">
            <a:avLst>
              <a:gd name="adj" fmla="val 4800"/>
            </a:avLst>
          </a:prstGeom>
          <a:solidFill>
            <a:srgbClr val="232323"/>
          </a:solidFill>
          <a:ln w="9525">
            <a:solidFill>
              <a:srgbClr val="343434"/>
            </a:solidFill>
            <a:prstDash val="solid"/>
          </a:ln>
        </p:spPr>
      </p:sp>
      <p:sp>
        <p:nvSpPr>
          <p:cNvPr id="6" name="Text 3"/>
          <p:cNvSpPr txBox="1"/>
          <p:nvPr/>
        </p:nvSpPr>
        <p:spPr>
          <a:xfrm>
            <a:off x="749808" y="1947672"/>
            <a:ext cx="2199818" cy="685800"/>
          </a:xfrm>
          <a:prstGeom prst="rect">
            <a:avLst/>
          </a:prstGeom>
          <a:noFill/>
          <a:ln/>
        </p:spPr>
        <p:txBody>
          <a:bodyPr wrap="square" lIns="0" tIns="0" rIns="0" bIns="0" rtlCol="0" anchor="t"/>
          <a:lstStyle/>
          <a:p>
            <a:pPr indent="0" marL="0">
              <a:buNone/>
            </a:pPr>
            <a:r>
              <a:rPr lang="en-US" sz="4000" b="1" dirty="0">
                <a:solidFill>
                  <a:srgbClr val="EDEDED"/>
                </a:solidFill>
                <a:latin typeface="Inter" pitchFamily="34" charset="0"/>
                <a:ea typeface="Inter" pitchFamily="34" charset="-122"/>
                <a:cs typeface="Inter" pitchFamily="34" charset="-120"/>
              </a:rPr>
              <a:t>23,717</a:t>
            </a:r>
            <a:endParaRPr lang="en-US" sz="4000" dirty="0"/>
          </a:p>
        </p:txBody>
      </p:sp>
      <p:sp>
        <p:nvSpPr>
          <p:cNvPr id="7" name="Text 4"/>
          <p:cNvSpPr txBox="1"/>
          <p:nvPr/>
        </p:nvSpPr>
        <p:spPr>
          <a:xfrm>
            <a:off x="749808" y="2679192"/>
            <a:ext cx="2199818" cy="548640"/>
          </a:xfrm>
          <a:prstGeom prst="rect">
            <a:avLst/>
          </a:prstGeom>
          <a:noFill/>
          <a:ln/>
        </p:spPr>
        <p:txBody>
          <a:bodyPr wrap="square" lIns="0" tIns="0" rIns="0" bIns="0" rtlCol="0" anchor="t"/>
          <a:lstStyle/>
          <a:p>
            <a:pPr indent="0" marL="0">
              <a:buNone/>
            </a:pPr>
            <a:r>
              <a:rPr lang="en-US" sz="1300" dirty="0">
                <a:solidFill>
                  <a:srgbClr val="EDEDED"/>
                </a:solidFill>
                <a:latin typeface="Inter" pitchFamily="34" charset="0"/>
                <a:ea typeface="Inter" pitchFamily="34" charset="-122"/>
                <a:cs typeface="Inter" pitchFamily="34" charset="-120"/>
              </a:rPr>
              <a:t>accounts hold a USDT0 trustline</a:t>
            </a:r>
            <a:endParaRPr lang="en-US" sz="1300" dirty="0"/>
          </a:p>
        </p:txBody>
      </p:sp>
      <p:sp>
        <p:nvSpPr>
          <p:cNvPr id="8" name="Text 5"/>
          <p:cNvSpPr txBox="1"/>
          <p:nvPr/>
        </p:nvSpPr>
        <p:spPr>
          <a:xfrm>
            <a:off x="749808" y="3593592"/>
            <a:ext cx="2199818" cy="320040"/>
          </a:xfrm>
          <a:prstGeom prst="rect">
            <a:avLst/>
          </a:prstGeom>
          <a:noFill/>
          <a:ln/>
        </p:spPr>
        <p:txBody>
          <a:bodyPr wrap="square" lIns="0" tIns="0" rIns="0" bIns="0" rtlCol="0" anchor="t"/>
          <a:lstStyle/>
          <a:p>
            <a:pPr indent="0" marL="0">
              <a:buNone/>
            </a:pPr>
            <a:r>
              <a:rPr lang="en-US" sz="1100" dirty="0">
                <a:solidFill>
                  <a:srgbClr val="A0A0A0"/>
                </a:solidFill>
                <a:latin typeface="Inter" pitchFamily="34" charset="0"/>
                <a:ea typeface="Inter" pitchFamily="34" charset="-122"/>
                <a:cs typeface="Inter" pitchFamily="34" charset="-120"/>
              </a:rPr>
              <a:t>13,561 on 11 September</a:t>
            </a:r>
            <a:endParaRPr lang="en-US" sz="1100" dirty="0"/>
          </a:p>
        </p:txBody>
      </p:sp>
      <p:sp>
        <p:nvSpPr>
          <p:cNvPr id="9" name="Shape 6"/>
          <p:cNvSpPr/>
          <p:nvPr/>
        </p:nvSpPr>
        <p:spPr>
          <a:xfrm>
            <a:off x="3379394" y="1783080"/>
            <a:ext cx="2602154" cy="2286000"/>
          </a:xfrm>
          <a:prstGeom prst="roundRect">
            <a:avLst>
              <a:gd name="adj" fmla="val 4800"/>
            </a:avLst>
          </a:prstGeom>
          <a:solidFill>
            <a:srgbClr val="232323"/>
          </a:solidFill>
          <a:ln w="9525">
            <a:solidFill>
              <a:srgbClr val="343434"/>
            </a:solidFill>
            <a:prstDash val="solid"/>
          </a:ln>
        </p:spPr>
      </p:sp>
      <p:sp>
        <p:nvSpPr>
          <p:cNvPr id="10" name="Text 7"/>
          <p:cNvSpPr txBox="1"/>
          <p:nvPr/>
        </p:nvSpPr>
        <p:spPr>
          <a:xfrm>
            <a:off x="3580562" y="1947672"/>
            <a:ext cx="2199818" cy="685800"/>
          </a:xfrm>
          <a:prstGeom prst="rect">
            <a:avLst/>
          </a:prstGeom>
          <a:noFill/>
          <a:ln/>
        </p:spPr>
        <p:txBody>
          <a:bodyPr wrap="square" lIns="0" tIns="0" rIns="0" bIns="0" rtlCol="0" anchor="t"/>
          <a:lstStyle/>
          <a:p>
            <a:pPr indent="0" marL="0">
              <a:buNone/>
            </a:pPr>
            <a:r>
              <a:rPr lang="en-US" sz="4000" b="1" dirty="0">
                <a:solidFill>
                  <a:srgbClr val="EDEDED"/>
                </a:solidFill>
                <a:latin typeface="Inter" pitchFamily="34" charset="0"/>
                <a:ea typeface="Inter" pitchFamily="34" charset="-122"/>
                <a:cs typeface="Inter" pitchFamily="34" charset="-120"/>
              </a:rPr>
              <a:t>2.58M</a:t>
            </a:r>
            <a:endParaRPr lang="en-US" sz="4000" dirty="0"/>
          </a:p>
        </p:txBody>
      </p:sp>
      <p:sp>
        <p:nvSpPr>
          <p:cNvPr id="11" name="Text 8"/>
          <p:cNvSpPr txBox="1"/>
          <p:nvPr/>
        </p:nvSpPr>
        <p:spPr>
          <a:xfrm>
            <a:off x="3580562" y="2679192"/>
            <a:ext cx="2199818" cy="548640"/>
          </a:xfrm>
          <a:prstGeom prst="rect">
            <a:avLst/>
          </a:prstGeom>
          <a:noFill/>
          <a:ln/>
        </p:spPr>
        <p:txBody>
          <a:bodyPr wrap="square" lIns="0" tIns="0" rIns="0" bIns="0" rtlCol="0" anchor="t"/>
          <a:lstStyle/>
          <a:p>
            <a:pPr indent="0" marL="0">
              <a:buNone/>
            </a:pPr>
            <a:r>
              <a:rPr lang="en-US" sz="1300" dirty="0">
                <a:solidFill>
                  <a:srgbClr val="EDEDED"/>
                </a:solidFill>
                <a:latin typeface="Inter" pitchFamily="34" charset="0"/>
                <a:ea typeface="Inter" pitchFamily="34" charset="-122"/>
                <a:cs typeface="Inter" pitchFamily="34" charset="-120"/>
              </a:rPr>
              <a:t>USDT0 on Stellar</a:t>
            </a:r>
            <a:endParaRPr lang="en-US" sz="1300" dirty="0"/>
          </a:p>
        </p:txBody>
      </p:sp>
      <p:sp>
        <p:nvSpPr>
          <p:cNvPr id="12" name="Text 9"/>
          <p:cNvSpPr txBox="1"/>
          <p:nvPr/>
        </p:nvSpPr>
        <p:spPr>
          <a:xfrm>
            <a:off x="3580562" y="3593592"/>
            <a:ext cx="2199818" cy="320040"/>
          </a:xfrm>
          <a:prstGeom prst="rect">
            <a:avLst/>
          </a:prstGeom>
          <a:noFill/>
          <a:ln/>
        </p:spPr>
        <p:txBody>
          <a:bodyPr wrap="square" lIns="0" tIns="0" rIns="0" bIns="0" rtlCol="0" anchor="t"/>
          <a:lstStyle/>
          <a:p>
            <a:pPr indent="0" marL="0">
              <a:buNone/>
            </a:pPr>
            <a:r>
              <a:rPr lang="en-US" sz="1100" dirty="0">
                <a:solidFill>
                  <a:srgbClr val="A0A0A0"/>
                </a:solidFill>
                <a:latin typeface="Inter" pitchFamily="34" charset="0"/>
                <a:ea typeface="Inter" pitchFamily="34" charset="-122"/>
                <a:cs typeface="Inter" pitchFamily="34" charset="-120"/>
              </a:rPr>
              <a:t>2.57M of it inside 23 contracts</a:t>
            </a:r>
            <a:endParaRPr lang="en-US" sz="1100" dirty="0"/>
          </a:p>
        </p:txBody>
      </p:sp>
      <p:sp>
        <p:nvSpPr>
          <p:cNvPr id="13" name="Shape 10"/>
          <p:cNvSpPr/>
          <p:nvPr/>
        </p:nvSpPr>
        <p:spPr>
          <a:xfrm>
            <a:off x="6210148" y="1783080"/>
            <a:ext cx="2602154" cy="2286000"/>
          </a:xfrm>
          <a:prstGeom prst="roundRect">
            <a:avLst>
              <a:gd name="adj" fmla="val 4800"/>
            </a:avLst>
          </a:prstGeom>
          <a:solidFill>
            <a:srgbClr val="232323"/>
          </a:solidFill>
          <a:ln w="9525">
            <a:solidFill>
              <a:srgbClr val="343434"/>
            </a:solidFill>
            <a:prstDash val="solid"/>
          </a:ln>
        </p:spPr>
      </p:sp>
      <p:sp>
        <p:nvSpPr>
          <p:cNvPr id="14" name="Text 11"/>
          <p:cNvSpPr txBox="1"/>
          <p:nvPr/>
        </p:nvSpPr>
        <p:spPr>
          <a:xfrm>
            <a:off x="6411316" y="1947672"/>
            <a:ext cx="2199818" cy="685800"/>
          </a:xfrm>
          <a:prstGeom prst="rect">
            <a:avLst/>
          </a:prstGeom>
          <a:noFill/>
          <a:ln/>
        </p:spPr>
        <p:txBody>
          <a:bodyPr wrap="square" lIns="0" tIns="0" rIns="0" bIns="0" rtlCol="0" anchor="t"/>
          <a:lstStyle/>
          <a:p>
            <a:pPr indent="0" marL="0">
              <a:buNone/>
            </a:pPr>
            <a:r>
              <a:rPr lang="en-US" sz="4000" b="1" dirty="0">
                <a:solidFill>
                  <a:srgbClr val="EDEDED"/>
                </a:solidFill>
                <a:latin typeface="Inter" pitchFamily="34" charset="0"/>
                <a:ea typeface="Inter" pitchFamily="34" charset="-122"/>
                <a:cs typeface="Inter" pitchFamily="34" charset="-120"/>
              </a:rPr>
              <a:t>21 of 21</a:t>
            </a:r>
            <a:endParaRPr lang="en-US" sz="4000" dirty="0"/>
          </a:p>
        </p:txBody>
      </p:sp>
      <p:sp>
        <p:nvSpPr>
          <p:cNvPr id="15" name="Text 12"/>
          <p:cNvSpPr txBox="1"/>
          <p:nvPr/>
        </p:nvSpPr>
        <p:spPr>
          <a:xfrm>
            <a:off x="6411316" y="2679192"/>
            <a:ext cx="2199818" cy="548640"/>
          </a:xfrm>
          <a:prstGeom prst="rect">
            <a:avLst/>
          </a:prstGeom>
          <a:noFill/>
          <a:ln/>
        </p:spPr>
        <p:txBody>
          <a:bodyPr wrap="square" lIns="0" tIns="0" rIns="0" bIns="0" rtlCol="0" anchor="t"/>
          <a:lstStyle/>
          <a:p>
            <a:pPr indent="0" marL="0">
              <a:buNone/>
            </a:pPr>
            <a:r>
              <a:rPr lang="en-US" sz="1300" dirty="0">
                <a:solidFill>
                  <a:srgbClr val="EDEDED"/>
                </a:solidFill>
                <a:latin typeface="Inter" pitchFamily="34" charset="0"/>
                <a:ea typeface="Inter" pitchFamily="34" charset="-122"/>
                <a:cs typeface="Inter" pitchFamily="34" charset="-120"/>
              </a:rPr>
              <a:t>networks with an endpoint id are wired as peers</a:t>
            </a:r>
            <a:endParaRPr lang="en-US" sz="1300" dirty="0"/>
          </a:p>
        </p:txBody>
      </p:sp>
      <p:sp>
        <p:nvSpPr>
          <p:cNvPr id="16" name="Text 13"/>
          <p:cNvSpPr txBox="1"/>
          <p:nvPr/>
        </p:nvSpPr>
        <p:spPr>
          <a:xfrm>
            <a:off x="6411316" y="3593592"/>
            <a:ext cx="2199818" cy="320040"/>
          </a:xfrm>
          <a:prstGeom prst="rect">
            <a:avLst/>
          </a:prstGeom>
          <a:noFill/>
          <a:ln/>
        </p:spPr>
        <p:txBody>
          <a:bodyPr wrap="square" lIns="0" tIns="0" rIns="0" bIns="0" rtlCol="0" anchor="t"/>
          <a:lstStyle/>
          <a:p>
            <a:pPr indent="0" marL="0">
              <a:buNone/>
            </a:pPr>
            <a:r>
              <a:rPr lang="en-US" sz="1100" dirty="0">
                <a:solidFill>
                  <a:srgbClr val="A0A0A0"/>
                </a:solidFill>
                <a:latin typeface="Inter" pitchFamily="34" charset="0"/>
                <a:ea typeface="Inter" pitchFamily="34" charset="-122"/>
                <a:cs typeface="Inter" pitchFamily="34" charset="-120"/>
              </a:rPr>
              <a:t>read from the OFT's peer(eid)</a:t>
            </a:r>
            <a:endParaRPr lang="en-US" sz="1100" dirty="0"/>
          </a:p>
        </p:txBody>
      </p:sp>
      <p:sp>
        <p:nvSpPr>
          <p:cNvPr id="17" name="Shape 14"/>
          <p:cNvSpPr/>
          <p:nvPr/>
        </p:nvSpPr>
        <p:spPr>
          <a:xfrm>
            <a:off x="9040901" y="1783080"/>
            <a:ext cx="2602154" cy="2286000"/>
          </a:xfrm>
          <a:prstGeom prst="roundRect">
            <a:avLst>
              <a:gd name="adj" fmla="val 4800"/>
            </a:avLst>
          </a:prstGeom>
          <a:solidFill>
            <a:srgbClr val="232323"/>
          </a:solidFill>
          <a:ln w="9525">
            <a:solidFill>
              <a:srgbClr val="343434"/>
            </a:solidFill>
            <a:prstDash val="solid"/>
          </a:ln>
        </p:spPr>
      </p:sp>
      <p:sp>
        <p:nvSpPr>
          <p:cNvPr id="18" name="Text 15"/>
          <p:cNvSpPr txBox="1"/>
          <p:nvPr/>
        </p:nvSpPr>
        <p:spPr>
          <a:xfrm>
            <a:off x="9242069" y="1947672"/>
            <a:ext cx="2199818" cy="685800"/>
          </a:xfrm>
          <a:prstGeom prst="rect">
            <a:avLst/>
          </a:prstGeom>
          <a:noFill/>
          <a:ln/>
        </p:spPr>
        <p:txBody>
          <a:bodyPr wrap="square" lIns="0" tIns="0" rIns="0" bIns="0" rtlCol="0" anchor="t"/>
          <a:lstStyle/>
          <a:p>
            <a:pPr indent="0" marL="0">
              <a:buNone/>
            </a:pPr>
            <a:r>
              <a:rPr lang="en-US" sz="4000" b="1" dirty="0">
                <a:solidFill>
                  <a:srgbClr val="EDEDED"/>
                </a:solidFill>
                <a:latin typeface="Inter" pitchFamily="34" charset="0"/>
                <a:ea typeface="Inter" pitchFamily="34" charset="-122"/>
                <a:cs typeface="Inter" pitchFamily="34" charset="-120"/>
              </a:rPr>
              <a:t>7</a:t>
            </a:r>
            <a:endParaRPr lang="en-US" sz="4000" dirty="0"/>
          </a:p>
        </p:txBody>
      </p:sp>
      <p:sp>
        <p:nvSpPr>
          <p:cNvPr id="19" name="Text 16"/>
          <p:cNvSpPr txBox="1"/>
          <p:nvPr/>
        </p:nvSpPr>
        <p:spPr>
          <a:xfrm>
            <a:off x="9242069" y="2679192"/>
            <a:ext cx="2199818" cy="548640"/>
          </a:xfrm>
          <a:prstGeom prst="rect">
            <a:avLst/>
          </a:prstGeom>
          <a:noFill/>
          <a:ln/>
        </p:spPr>
        <p:txBody>
          <a:bodyPr wrap="square" lIns="0" tIns="0" rIns="0" bIns="0" rtlCol="0" anchor="t"/>
          <a:lstStyle/>
          <a:p>
            <a:pPr indent="0" marL="0">
              <a:buNone/>
            </a:pPr>
            <a:r>
              <a:rPr lang="en-US" sz="1300" dirty="0">
                <a:solidFill>
                  <a:srgbClr val="EDEDED"/>
                </a:solidFill>
                <a:latin typeface="Inter" pitchFamily="34" charset="0"/>
                <a:ea typeface="Inter" pitchFamily="34" charset="-122"/>
                <a:cs typeface="Inter" pitchFamily="34" charset="-120"/>
              </a:rPr>
              <a:t>DVN operators registered on Stellar mainnet</a:t>
            </a:r>
            <a:endParaRPr lang="en-US" sz="1300" dirty="0"/>
          </a:p>
        </p:txBody>
      </p:sp>
      <p:sp>
        <p:nvSpPr>
          <p:cNvPr id="20" name="Text 17"/>
          <p:cNvSpPr txBox="1"/>
          <p:nvPr/>
        </p:nvSpPr>
        <p:spPr>
          <a:xfrm>
            <a:off x="9242069" y="3593592"/>
            <a:ext cx="2199818" cy="320040"/>
          </a:xfrm>
          <a:prstGeom prst="rect">
            <a:avLst/>
          </a:prstGeom>
          <a:noFill/>
          <a:ln/>
        </p:spPr>
        <p:txBody>
          <a:bodyPr wrap="square" lIns="0" tIns="0" rIns="0" bIns="0" rtlCol="0" anchor="t"/>
          <a:lstStyle/>
          <a:p>
            <a:pPr indent="0" marL="0">
              <a:buNone/>
            </a:pPr>
            <a:r>
              <a:rPr lang="en-US" sz="1100" dirty="0">
                <a:solidFill>
                  <a:srgbClr val="A0A0A0"/>
                </a:solidFill>
                <a:latin typeface="Inter" pitchFamily="34" charset="0"/>
                <a:ea typeface="Inter" pitchFamily="34" charset="-122"/>
                <a:cs typeface="Inter" pitchFamily="34" charset="-120"/>
              </a:rPr>
              <a:t>USDT0 requires 3 of them</a:t>
            </a:r>
            <a:endParaRPr lang="en-US" sz="1100" dirty="0"/>
          </a:p>
        </p:txBody>
      </p:sp>
      <p:sp>
        <p:nvSpPr>
          <p:cNvPr id="21" name="Text 18"/>
          <p:cNvSpPr txBox="1"/>
          <p:nvPr/>
        </p:nvSpPr>
        <p:spPr>
          <a:xfrm>
            <a:off x="548640" y="4343400"/>
            <a:ext cx="11094415" cy="822960"/>
          </a:xfrm>
          <a:prstGeom prst="rect">
            <a:avLst/>
          </a:prstGeom>
          <a:noFill/>
          <a:ln/>
        </p:spPr>
        <p:txBody>
          <a:bodyPr wrap="square" lIns="0" tIns="0" rIns="0" bIns="0" rtlCol="0" anchor="t"/>
          <a:lstStyle/>
          <a:p>
            <a:pPr indent="0" marL="0">
              <a:lnSpc>
                <a:spcPct val="115000"/>
              </a:lnSpc>
              <a:buNone/>
            </a:pPr>
            <a:r>
              <a:rPr lang="en-US" sz="1500" dirty="0">
                <a:solidFill>
                  <a:srgbClr val="EDEDED"/>
                </a:solidFill>
                <a:latin typeface="Inter" pitchFamily="34" charset="0"/>
                <a:ea typeface="Inter" pitchFamily="34" charset="-122"/>
                <a:cs typeface="Inter" pitchFamily="34" charset="-120"/>
              </a:rPr>
              <a:t>USDT0 is the anchor tenant, not the only one: of the last 50 LayerZero messages out of Stellar, 38 were USDT0. The rest came from OApps that LayerZero Scan labels PayPal and Ethena.</a:t>
            </a:r>
            <a:endParaRPr lang="en-US" sz="1500" dirty="0"/>
          </a:p>
        </p:txBody>
      </p:sp>
      <p:sp>
        <p:nvSpPr>
          <p:cNvPr id="22" name="Text 19"/>
          <p:cNvSpPr txBox="1"/>
          <p:nvPr/>
        </p:nvSpPr>
        <p:spPr>
          <a:xfrm>
            <a:off x="548640" y="6172200"/>
            <a:ext cx="11094415" cy="320040"/>
          </a:xfrm>
          <a:prstGeom prst="rect">
            <a:avLst/>
          </a:prstGeom>
          <a:noFill/>
          <a:ln/>
        </p:spPr>
        <p:txBody>
          <a:bodyPr wrap="square" lIns="0" tIns="0" rIns="0" bIns="0" rtlCol="0" anchor="b"/>
          <a:lstStyle/>
          <a:p>
            <a:pPr indent="0" marL="0">
              <a:buNone/>
            </a:pPr>
            <a:r>
              <a:rPr lang="en-US" sz="1000" dirty="0">
                <a:solidFill>
                  <a:srgbClr val="A0A0A0"/>
                </a:solidFill>
                <a:latin typeface="Inter" pitchFamily="34" charset="0"/>
                <a:ea typeface="Inter" pitchFamily="34" charset="-122"/>
                <a:cs typeface="Inter" pitchFamily="34" charset="-120"/>
              </a:rPr>
              <a:t>Sources: Horizon /assets, OFT peer() via simulateTransaction, LayerZero registry and Scan, all read on 28 September 2026. The Inspector page reads the same values live.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8"/>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6E56CF"/>
                </a:solidFill>
                <a:latin typeface="Inter" pitchFamily="34" charset="0"/>
                <a:ea typeface="Inter" pitchFamily="34" charset="-122"/>
                <a:cs typeface="Inter" pitchFamily="34" charset="-120"/>
              </a:rPr>
              <a:t>MECHANICS</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171717"/>
                </a:solidFill>
                <a:latin typeface="Inter" pitchFamily="34" charset="0"/>
                <a:ea typeface="Inter" pitchFamily="34" charset="-122"/>
                <a:cs typeface="Inter" pitchFamily="34" charset="-120"/>
              </a:rPr>
              <a:t>Each leg has its own mechanism</a:t>
            </a:r>
            <a:endParaRPr lang="en-US" sz="3200" dirty="0"/>
          </a:p>
        </p:txBody>
      </p:sp>
      <p:sp>
        <p:nvSpPr>
          <p:cNvPr id="5" name="Shape 2"/>
          <p:cNvSpPr/>
          <p:nvPr/>
        </p:nvSpPr>
        <p:spPr>
          <a:xfrm>
            <a:off x="548640" y="1783080"/>
            <a:ext cx="4663440" cy="2331720"/>
          </a:xfrm>
          <a:prstGeom prst="roundRect">
            <a:avLst>
              <a:gd name="adj" fmla="val 4706"/>
            </a:avLst>
          </a:prstGeom>
          <a:solidFill>
            <a:srgbClr val="FCFCFC"/>
          </a:solidFill>
          <a:ln w="9525">
            <a:solidFill>
              <a:srgbClr val="E2E2E2"/>
            </a:solidFill>
            <a:prstDash val="solid"/>
          </a:ln>
        </p:spPr>
      </p:sp>
      <p:sp>
        <p:nvSpPr>
          <p:cNvPr id="6" name="Text 3"/>
          <p:cNvSpPr txBox="1"/>
          <p:nvPr/>
        </p:nvSpPr>
        <p:spPr>
          <a:xfrm>
            <a:off x="749808" y="1965960"/>
            <a:ext cx="4261104"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Stellar · OFT type MintBurn</a:t>
            </a:r>
            <a:endParaRPr lang="en-US" sz="1500" dirty="0"/>
          </a:p>
        </p:txBody>
      </p:sp>
      <p:sp>
        <p:nvSpPr>
          <p:cNvPr id="7" name="Text 4"/>
          <p:cNvSpPr txBox="1"/>
          <p:nvPr/>
        </p:nvSpPr>
        <p:spPr>
          <a:xfrm>
            <a:off x="749808" y="2350008"/>
            <a:ext cx="4261104" cy="160020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400" dirty="0">
                <a:solidFill>
                  <a:srgbClr val="6F6F6F"/>
                </a:solidFill>
                <a:latin typeface="Inter" pitchFamily="34" charset="0"/>
                <a:ea typeface="Inter" pitchFamily="34" charset="-122"/>
                <a:cs typeface="Inter" pitchFamily="34" charset="-120"/>
              </a:rPr>
              <a:t>Send: your USDT0 is burned through the SAC</a:t>
            </a:r>
            <a:endParaRPr lang="en-US" sz="1400" dirty="0"/>
          </a:p>
          <a:p>
            <a:pPr marL="152400" indent="-152400">
              <a:lnSpc>
                <a:spcPct val="110000"/>
              </a:lnSpc>
              <a:spcAft>
                <a:spcPts val="400"/>
              </a:spcAft>
              <a:buSzPct val="100000"/>
              <a:buChar char="•"/>
            </a:pPr>
            <a:r>
              <a:rPr lang="en-US" sz="1400" dirty="0">
                <a:solidFill>
                  <a:srgbClr val="6F6F6F"/>
                </a:solidFill>
                <a:latin typeface="Inter" pitchFamily="34" charset="0"/>
                <a:ea typeface="Inter" pitchFamily="34" charset="-122"/>
                <a:cs typeface="Inter" pitchFamily="34" charset="-120"/>
              </a:rPr>
              <a:t>Receive: the SAC-manager mints to the recipient</a:t>
            </a:r>
            <a:endParaRPr lang="en-US" sz="1400" dirty="0"/>
          </a:p>
          <a:p>
            <a:pPr marL="152400" indent="-152400">
              <a:lnSpc>
                <a:spcPct val="110000"/>
              </a:lnSpc>
              <a:spcAft>
                <a:spcPts val="400"/>
              </a:spcAft>
              <a:buSzPct val="100000"/>
              <a:buChar char="•"/>
            </a:pPr>
            <a:r>
              <a:rPr lang="en-US" sz="1400" dirty="0">
                <a:solidFill>
                  <a:srgbClr val="6F6F6F"/>
                </a:solidFill>
                <a:latin typeface="Inter" pitchFamily="34" charset="0"/>
                <a:ea typeface="Inter" pitchFamily="34" charset="-122"/>
                <a:cs typeface="Inter" pitchFamily="34" charset="-120"/>
              </a:rPr>
              <a:t>Supply on Stellar always equals what was bridged in</a:t>
            </a:r>
            <a:endParaRPr lang="en-US" sz="1400" dirty="0"/>
          </a:p>
        </p:txBody>
      </p:sp>
      <p:sp>
        <p:nvSpPr>
          <p:cNvPr id="8" name="Shape 5"/>
          <p:cNvSpPr/>
          <p:nvPr/>
        </p:nvSpPr>
        <p:spPr>
          <a:xfrm>
            <a:off x="5592928" y="2286000"/>
            <a:ext cx="1005840" cy="457200"/>
          </a:xfrm>
          <a:prstGeom prst="rightArrow">
            <a:avLst/>
          </a:prstGeom>
          <a:solidFill>
            <a:srgbClr val="6E56CF"/>
          </a:solidFill>
          <a:ln w="12700">
            <a:solidFill>
              <a:srgbClr val="6E56CF"/>
            </a:solidFill>
            <a:prstDash val="solid"/>
          </a:ln>
        </p:spPr>
      </p:sp>
      <p:sp>
        <p:nvSpPr>
          <p:cNvPr id="9" name="Text 6"/>
          <p:cNvSpPr txBox="1"/>
          <p:nvPr/>
        </p:nvSpPr>
        <p:spPr>
          <a:xfrm>
            <a:off x="5486400" y="2788920"/>
            <a:ext cx="1218895" cy="365760"/>
          </a:xfrm>
          <a:prstGeom prst="rect">
            <a:avLst/>
          </a:prstGeom>
          <a:noFill/>
          <a:ln/>
        </p:spPr>
        <p:txBody>
          <a:bodyPr wrap="square" lIns="0" tIns="0" rIns="0" bIns="0" rtlCol="0" anchor="ctr"/>
          <a:lstStyle/>
          <a:p>
            <a:pPr algn="ctr" indent="0" marL="0">
              <a:buNone/>
            </a:pPr>
            <a:r>
              <a:rPr lang="en-US" sz="1100" b="1" dirty="0">
                <a:solidFill>
                  <a:srgbClr val="6F6F6F"/>
                </a:solidFill>
                <a:latin typeface="Inter" pitchFamily="34" charset="0"/>
                <a:ea typeface="Inter" pitchFamily="34" charset="-122"/>
                <a:cs typeface="Inter" pitchFamily="34" charset="-120"/>
              </a:rPr>
              <a:t>LayerZero message</a:t>
            </a:r>
            <a:endParaRPr lang="en-US" sz="1100" dirty="0"/>
          </a:p>
        </p:txBody>
      </p:sp>
      <p:sp>
        <p:nvSpPr>
          <p:cNvPr id="10" name="Shape 7"/>
          <p:cNvSpPr/>
          <p:nvPr/>
        </p:nvSpPr>
        <p:spPr>
          <a:xfrm>
            <a:off x="5592928" y="3154680"/>
            <a:ext cx="1005840" cy="457200"/>
          </a:xfrm>
          <a:prstGeom prst="leftArrow">
            <a:avLst/>
          </a:prstGeom>
          <a:solidFill>
            <a:srgbClr val="6E56CF"/>
          </a:solidFill>
          <a:ln w="12700">
            <a:solidFill>
              <a:srgbClr val="6E56CF"/>
            </a:solidFill>
            <a:prstDash val="solid"/>
          </a:ln>
        </p:spPr>
      </p:sp>
      <p:sp>
        <p:nvSpPr>
          <p:cNvPr id="11" name="Shape 8"/>
          <p:cNvSpPr/>
          <p:nvPr/>
        </p:nvSpPr>
        <p:spPr>
          <a:xfrm>
            <a:off x="6979615" y="1783080"/>
            <a:ext cx="4663440" cy="2331720"/>
          </a:xfrm>
          <a:prstGeom prst="roundRect">
            <a:avLst>
              <a:gd name="adj" fmla="val 4706"/>
            </a:avLst>
          </a:prstGeom>
          <a:solidFill>
            <a:srgbClr val="FCFCFC"/>
          </a:solidFill>
          <a:ln w="9525">
            <a:solidFill>
              <a:srgbClr val="E2E2E2"/>
            </a:solidFill>
            <a:prstDash val="solid"/>
          </a:ln>
        </p:spPr>
      </p:sp>
      <p:sp>
        <p:nvSpPr>
          <p:cNvPr id="12" name="Text 9"/>
          <p:cNvSpPr txBox="1"/>
          <p:nvPr/>
        </p:nvSpPr>
        <p:spPr>
          <a:xfrm>
            <a:off x="7180783" y="1965960"/>
            <a:ext cx="4261104"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Ethereum · OFT Adapter</a:t>
            </a:r>
            <a:endParaRPr lang="en-US" sz="1500" dirty="0"/>
          </a:p>
        </p:txBody>
      </p:sp>
      <p:sp>
        <p:nvSpPr>
          <p:cNvPr id="13" name="Text 10"/>
          <p:cNvSpPr txBox="1"/>
          <p:nvPr/>
        </p:nvSpPr>
        <p:spPr>
          <a:xfrm>
            <a:off x="7180783" y="2350008"/>
            <a:ext cx="4261104" cy="160020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400" dirty="0">
                <a:solidFill>
                  <a:srgbClr val="6F6F6F"/>
                </a:solidFill>
                <a:latin typeface="Inter" pitchFamily="34" charset="0"/>
                <a:ea typeface="Inter" pitchFamily="34" charset="-122"/>
                <a:cs typeface="Inter" pitchFamily="34" charset="-120"/>
              </a:rPr>
              <a:t>Send: canonical USDT is locked in the adapter (approval required)</a:t>
            </a:r>
            <a:endParaRPr lang="en-US" sz="1400" dirty="0"/>
          </a:p>
          <a:p>
            <a:pPr marL="152400" indent="-152400">
              <a:lnSpc>
                <a:spcPct val="110000"/>
              </a:lnSpc>
              <a:spcAft>
                <a:spcPts val="400"/>
              </a:spcAft>
              <a:buSzPct val="100000"/>
              <a:buChar char="•"/>
            </a:pPr>
            <a:r>
              <a:rPr lang="en-US" sz="1400" dirty="0">
                <a:solidFill>
                  <a:srgbClr val="6F6F6F"/>
                </a:solidFill>
                <a:latin typeface="Inter" pitchFamily="34" charset="0"/>
                <a:ea typeface="Inter" pitchFamily="34" charset="-122"/>
                <a:cs typeface="Inter" pitchFamily="34" charset="-120"/>
              </a:rPr>
              <a:t>Receive: USDT is unlocked to the recipient</a:t>
            </a:r>
            <a:endParaRPr lang="en-US" sz="1400" dirty="0"/>
          </a:p>
          <a:p>
            <a:pPr marL="152400" indent="-152400">
              <a:lnSpc>
                <a:spcPct val="110000"/>
              </a:lnSpc>
              <a:spcAft>
                <a:spcPts val="400"/>
              </a:spcAft>
              <a:buSzPct val="100000"/>
              <a:buChar char="•"/>
            </a:pPr>
            <a:r>
              <a:rPr lang="en-US" sz="1400" dirty="0">
                <a:solidFill>
                  <a:srgbClr val="6F6F6F"/>
                </a:solidFill>
                <a:latin typeface="Inter" pitchFamily="34" charset="0"/>
                <a:ea typeface="Inter" pitchFamily="34" charset="-122"/>
                <a:cs typeface="Inter" pitchFamily="34" charset="-120"/>
              </a:rPr>
              <a:t>Nothing is ever minted on Ethereum</a:t>
            </a:r>
            <a:endParaRPr lang="en-US" sz="1400" dirty="0"/>
          </a:p>
        </p:txBody>
      </p:sp>
      <p:sp>
        <p:nvSpPr>
          <p:cNvPr id="14" name="Shape 11"/>
          <p:cNvSpPr/>
          <p:nvPr/>
        </p:nvSpPr>
        <p:spPr>
          <a:xfrm>
            <a:off x="548640" y="4389120"/>
            <a:ext cx="11094415" cy="914400"/>
          </a:xfrm>
          <a:prstGeom prst="roundRect">
            <a:avLst>
              <a:gd name="adj" fmla="val 10000"/>
            </a:avLst>
          </a:prstGeom>
          <a:solidFill>
            <a:srgbClr val="F5F2FF"/>
          </a:solidFill>
          <a:ln w="12700">
            <a:solidFill>
              <a:srgbClr val="F5F2FF"/>
            </a:solidFill>
            <a:prstDash val="solid"/>
          </a:ln>
        </p:spPr>
      </p:sp>
      <p:sp>
        <p:nvSpPr>
          <p:cNvPr id="15" name="Text 12"/>
          <p:cNvSpPr txBox="1"/>
          <p:nvPr/>
        </p:nvSpPr>
        <p:spPr>
          <a:xfrm>
            <a:off x="777240" y="4498848"/>
            <a:ext cx="10637215" cy="694944"/>
          </a:xfrm>
          <a:prstGeom prst="rect">
            <a:avLst/>
          </a:prstGeom>
          <a:noFill/>
          <a:ln/>
        </p:spPr>
        <p:txBody>
          <a:bodyPr wrap="square" lIns="0" tIns="0" rIns="0" bIns="0" rtlCol="0" anchor="ctr"/>
          <a:lstStyle/>
          <a:p>
            <a:pPr indent="0" marL="0">
              <a:lnSpc>
                <a:spcPct val="112000"/>
              </a:lnSpc>
              <a:buNone/>
            </a:pPr>
            <a:r>
              <a:rPr lang="en-US" sz="1400" dirty="0">
                <a:solidFill>
                  <a:srgbClr val="171717"/>
                </a:solidFill>
                <a:latin typeface="Inter" pitchFamily="34" charset="0"/>
                <a:ea typeface="Inter" pitchFamily="34" charset="-122"/>
                <a:cs typeface="Inter" pitchFamily="34" charset="-120"/>
              </a:rPr>
              <a:t>Invariant: USDT0 minted across every other chain equals USDT locked in the Ethereum adapter. Never promise burn-and-mint on both ends of a route.</a:t>
            </a:r>
            <a:endParaRPr lang="en-US" sz="1400" dirty="0"/>
          </a:p>
        </p:txBody>
      </p:sp>
      <p:sp>
        <p:nvSpPr>
          <p:cNvPr id="16" name="Text 13"/>
          <p:cNvSpPr txBox="1"/>
          <p:nvPr/>
        </p:nvSpPr>
        <p:spPr>
          <a:xfrm>
            <a:off x="548640" y="6172200"/>
            <a:ext cx="11094415" cy="320040"/>
          </a:xfrm>
          <a:prstGeom prst="rect">
            <a:avLst/>
          </a:prstGeom>
          <a:noFill/>
          <a:ln/>
        </p:spPr>
        <p:txBody>
          <a:bodyPr wrap="square" lIns="0" tIns="0" rIns="0" bIns="0" rtlCol="0" anchor="b"/>
          <a:lstStyle/>
          <a:p>
            <a:pPr indent="0" marL="0">
              <a:buNone/>
            </a:pPr>
            <a:r>
              <a:rPr lang="en-US" sz="1000" dirty="0">
                <a:solidFill>
                  <a:srgbClr val="6F6F6F"/>
                </a:solidFill>
                <a:latin typeface="Inter" pitchFamily="34" charset="0"/>
                <a:ea typeface="Inter" pitchFamily="34" charset="-122"/>
                <a:cs typeface="Inter" pitchFamily="34" charset="-120"/>
              </a:rPr>
              <a:t>Read live on the Inspector: OFT.oft_type() = MintBurn on Stellar; adapter.approvalRequired() = true on Ethereum.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6"/>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9E8CFC"/>
                </a:solidFill>
                <a:latin typeface="Inter" pitchFamily="34" charset="0"/>
                <a:ea typeface="Inter" pitchFamily="34" charset="-122"/>
                <a:cs typeface="Inter" pitchFamily="34" charset="-120"/>
              </a:rPr>
              <a:t>MECHANICS</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EDEDED"/>
                </a:solidFill>
                <a:latin typeface="Inter" pitchFamily="34" charset="0"/>
                <a:ea typeface="Inter" pitchFamily="34" charset="-122"/>
                <a:cs typeface="Inter" pitchFamily="34" charset="-120"/>
              </a:rPr>
              <a:t>Shared decimals: 7 on Stellar, 6 on the wire</a:t>
            </a:r>
            <a:endParaRPr lang="en-US" sz="3200" dirty="0"/>
          </a:p>
        </p:txBody>
      </p:sp>
      <p:sp>
        <p:nvSpPr>
          <p:cNvPr id="5" name="Text 2"/>
          <p:cNvSpPr txBox="1"/>
          <p:nvPr/>
        </p:nvSpPr>
        <p:spPr>
          <a:xfrm>
            <a:off x="548640" y="1645920"/>
            <a:ext cx="11094415" cy="685800"/>
          </a:xfrm>
          <a:prstGeom prst="rect">
            <a:avLst/>
          </a:prstGeom>
          <a:noFill/>
          <a:ln/>
        </p:spPr>
        <p:txBody>
          <a:bodyPr wrap="square" lIns="0" tIns="0" rIns="0" bIns="0" rtlCol="0" anchor="t"/>
          <a:lstStyle/>
          <a:p>
            <a:pPr indent="0" marL="0">
              <a:lnSpc>
                <a:spcPct val="115000"/>
              </a:lnSpc>
              <a:buNone/>
            </a:pPr>
            <a:r>
              <a:rPr lang="en-US" sz="1400" dirty="0">
                <a:solidFill>
                  <a:srgbClr val="A0A0A0"/>
                </a:solidFill>
                <a:latin typeface="Inter" pitchFamily="34" charset="0"/>
                <a:ea typeface="Inter" pitchFamily="34" charset="-122"/>
                <a:cs typeface="Inter" pitchFamily="34" charset="-120"/>
              </a:rPr>
              <a:t>Chains disagree on decimals (Stellar 7, USDT on Ethereum 6). OFTs agree on a shared precision of 6 and put a u64 on the wire. Everything below 0.000001 is dust and stays with the sender.</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4415" cy="914400"/>
        </p:xfrm>
        <a:graphic>
          <a:graphicData uri="http://schemas.openxmlformats.org/drawingml/2006/table">
            <a:tbl>
              <a:tblPr/>
              <a:tblGrid>
                <a:gridCol w="6400800"/>
                <a:gridCol w="4693615"/>
              </a:tblGrid>
              <a:tr h="0">
                <a:tc>
                  <a:txBody>
                    <a:bodyPr/>
                    <a:lstStyle/>
                    <a:p>
                      <a:pPr indent="0" marL="0">
                        <a:buNone/>
                      </a:pPr>
                      <a:r>
                        <a:rPr lang="en-US" sz="1200" b="1" dirty="0">
                          <a:solidFill>
                            <a:srgbClr val="EDEDED"/>
                          </a:solidFill>
                          <a:latin typeface="Inter" pitchFamily="34" charset="0"/>
                          <a:ea typeface="Inter" pitchFamily="34" charset="-122"/>
                          <a:cs typeface="Inter" pitchFamily="34" charset="-120"/>
                        </a:rPr>
                        <a:t>Step</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b="1" dirty="0">
                          <a:solidFill>
                            <a:srgbClr val="EDEDE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You type</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1.2345678 USDT0</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amount_ld (7 decimals, what you pass to the OFT)</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12345678 stroops</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decimal_conversion_rate</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10^(7-6) = 10</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amount_sd (6 decimals, on the wire)</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1234567</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Dust removed before the message is built</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8 stroops = 0.0000008 USDT0</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amount_received_ld on a no-fee route</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1.234567 USDT0</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r>
            </a:tbl>
          </a:graphicData>
        </a:graphic>
      </p:graphicFrame>
      <p:sp>
        <p:nvSpPr>
          <p:cNvPr id="7" name="Text 3"/>
          <p:cNvSpPr txBox="1"/>
          <p:nvPr/>
        </p:nvSpPr>
        <p:spPr>
          <a:xfrm>
            <a:off x="548640" y="5669280"/>
            <a:ext cx="11094415" cy="457200"/>
          </a:xfrm>
          <a:prstGeom prst="rect">
            <a:avLst/>
          </a:prstGeom>
          <a:noFill/>
          <a:ln/>
        </p:spPr>
        <p:txBody>
          <a:bodyPr wrap="square" lIns="0" tIns="0" rIns="0" bIns="0" rtlCol="0" anchor="t"/>
          <a:lstStyle/>
          <a:p>
            <a:pPr indent="0" marL="0">
              <a:lnSpc>
                <a:spcPct val="115000"/>
              </a:lnSpc>
              <a:buNone/>
            </a:pPr>
            <a:r>
              <a:rPr lang="en-US" sz="1400" dirty="0">
                <a:solidFill>
                  <a:srgbClr val="EDEDED"/>
                </a:solidFill>
                <a:latin typeface="Inter" pitchFamily="34" charset="0"/>
                <a:ea typeface="Inter" pitchFamily="34" charset="-122"/>
                <a:cs typeface="Inter" pitchFamily="34" charset="-120"/>
              </a:rPr>
              <a:t>quote_oft returns the exact amount_received_ld. Use it as min_amount_ld, or the send fails on slippage.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6E56CF"/>
                </a:solidFill>
                <a:latin typeface="Inter" pitchFamily="34" charset="0"/>
                <a:ea typeface="Inter" pitchFamily="34" charset="-122"/>
                <a:cs typeface="Inter" pitchFamily="34" charset="-120"/>
              </a:rPr>
              <a:t>MECHANICS</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171717"/>
                </a:solidFill>
                <a:latin typeface="Inter" pitchFamily="34" charset="0"/>
                <a:ea typeface="Inter" pitchFamily="34" charset="-122"/>
                <a:cs typeface="Inter" pitchFamily="34" charset="-120"/>
              </a:rPr>
              <a:t>How a message reaches Stellar</a:t>
            </a:r>
            <a:endParaRPr lang="en-US" sz="3200" dirty="0"/>
          </a:p>
        </p:txBody>
      </p:sp>
      <p:sp>
        <p:nvSpPr>
          <p:cNvPr id="5" name="Shape 2"/>
          <p:cNvSpPr/>
          <p:nvPr/>
        </p:nvSpPr>
        <p:spPr>
          <a:xfrm>
            <a:off x="548640" y="1737360"/>
            <a:ext cx="2072579" cy="2468880"/>
          </a:xfrm>
          <a:prstGeom prst="roundRect">
            <a:avLst>
              <a:gd name="adj" fmla="val 5294"/>
            </a:avLst>
          </a:prstGeom>
          <a:solidFill>
            <a:srgbClr val="FCFCFC"/>
          </a:solidFill>
          <a:ln w="9525">
            <a:solidFill>
              <a:srgbClr val="E2E2E2"/>
            </a:solidFill>
            <a:prstDash val="solid"/>
          </a:ln>
        </p:spPr>
      </p:sp>
      <p:sp>
        <p:nvSpPr>
          <p:cNvPr id="6" name="Text 3"/>
          <p:cNvSpPr txBox="1"/>
          <p:nvPr/>
        </p:nvSpPr>
        <p:spPr>
          <a:xfrm>
            <a:off x="749808" y="1920240"/>
            <a:ext cx="1670243" cy="320040"/>
          </a:xfrm>
          <a:prstGeom prst="rect">
            <a:avLst/>
          </a:prstGeom>
          <a:noFill/>
          <a:ln/>
        </p:spPr>
        <p:txBody>
          <a:bodyPr wrap="square" lIns="0" tIns="0" rIns="0" bIns="0" rtlCol="0" anchor="t"/>
          <a:lstStyle/>
          <a:p>
            <a:pPr indent="0" marL="0">
              <a:buNone/>
            </a:pPr>
            <a:r>
              <a:rPr lang="en-US" sz="1400" b="1" dirty="0">
                <a:solidFill>
                  <a:srgbClr val="6E56CF"/>
                </a:solidFill>
                <a:latin typeface="Inter" pitchFamily="34" charset="0"/>
                <a:ea typeface="Inter" pitchFamily="34" charset="-122"/>
                <a:cs typeface="Inter" pitchFamily="34" charset="-120"/>
              </a:rPr>
              <a:t>1 · Send</a:t>
            </a:r>
            <a:endParaRPr lang="en-US" sz="1400" dirty="0"/>
          </a:p>
        </p:txBody>
      </p:sp>
      <p:sp>
        <p:nvSpPr>
          <p:cNvPr id="7" name="Text 4"/>
          <p:cNvSpPr txBox="1"/>
          <p:nvPr/>
        </p:nvSpPr>
        <p:spPr>
          <a:xfrm>
            <a:off x="749808" y="2304288"/>
            <a:ext cx="1670243" cy="1737360"/>
          </a:xfrm>
          <a:prstGeom prst="rect">
            <a:avLst/>
          </a:prstGeom>
          <a:noFill/>
          <a:ln/>
        </p:spPr>
        <p:txBody>
          <a:bodyPr wrap="square" lIns="0" tIns="0" rIns="0" bIns="0" rtlCol="0" anchor="t"/>
          <a:lstStyle/>
          <a:p>
            <a:pPr indent="0" marL="0">
              <a:lnSpc>
                <a:spcPct val="112000"/>
              </a:lnSpc>
              <a:buNone/>
            </a:pPr>
            <a:r>
              <a:rPr lang="en-US" sz="1200" dirty="0">
                <a:solidFill>
                  <a:srgbClr val="6F6F6F"/>
                </a:solidFill>
                <a:latin typeface="Inter" pitchFamily="34" charset="0"/>
                <a:ea typeface="Inter" pitchFamily="34" charset="-122"/>
                <a:cs typeface="Inter" pitchFamily="34" charset="-120"/>
              </a:rPr>
              <a:t>The source OFT calls the endpoint. A packet with nonce, source and destination EIDs, sender, receiver and payload is emitted.</a:t>
            </a:r>
            <a:endParaRPr lang="en-US" sz="1200" dirty="0"/>
          </a:p>
        </p:txBody>
      </p:sp>
      <p:sp>
        <p:nvSpPr>
          <p:cNvPr id="8" name="Shape 5"/>
          <p:cNvSpPr/>
          <p:nvPr/>
        </p:nvSpPr>
        <p:spPr>
          <a:xfrm>
            <a:off x="2804099" y="1737360"/>
            <a:ext cx="2072579" cy="2468880"/>
          </a:xfrm>
          <a:prstGeom prst="roundRect">
            <a:avLst>
              <a:gd name="adj" fmla="val 5294"/>
            </a:avLst>
          </a:prstGeom>
          <a:solidFill>
            <a:srgbClr val="FCFCFC"/>
          </a:solidFill>
          <a:ln w="9525">
            <a:solidFill>
              <a:srgbClr val="E2E2E2"/>
            </a:solidFill>
            <a:prstDash val="solid"/>
          </a:ln>
        </p:spPr>
      </p:sp>
      <p:sp>
        <p:nvSpPr>
          <p:cNvPr id="9" name="Text 6"/>
          <p:cNvSpPr txBox="1"/>
          <p:nvPr/>
        </p:nvSpPr>
        <p:spPr>
          <a:xfrm>
            <a:off x="3005267" y="1920240"/>
            <a:ext cx="1670243" cy="320040"/>
          </a:xfrm>
          <a:prstGeom prst="rect">
            <a:avLst/>
          </a:prstGeom>
          <a:noFill/>
          <a:ln/>
        </p:spPr>
        <p:txBody>
          <a:bodyPr wrap="square" lIns="0" tIns="0" rIns="0" bIns="0" rtlCol="0" anchor="t"/>
          <a:lstStyle/>
          <a:p>
            <a:pPr indent="0" marL="0">
              <a:buNone/>
            </a:pPr>
            <a:r>
              <a:rPr lang="en-US" sz="1400" b="1" dirty="0">
                <a:solidFill>
                  <a:srgbClr val="6E56CF"/>
                </a:solidFill>
                <a:latin typeface="Inter" pitchFamily="34" charset="0"/>
                <a:ea typeface="Inter" pitchFamily="34" charset="-122"/>
                <a:cs typeface="Inter" pitchFamily="34" charset="-120"/>
              </a:rPr>
              <a:t>2 · Verify</a:t>
            </a:r>
            <a:endParaRPr lang="en-US" sz="1400" dirty="0"/>
          </a:p>
        </p:txBody>
      </p:sp>
      <p:sp>
        <p:nvSpPr>
          <p:cNvPr id="10" name="Text 7"/>
          <p:cNvSpPr txBox="1"/>
          <p:nvPr/>
        </p:nvSpPr>
        <p:spPr>
          <a:xfrm>
            <a:off x="3005267" y="2304288"/>
            <a:ext cx="1670243" cy="1737360"/>
          </a:xfrm>
          <a:prstGeom prst="rect">
            <a:avLst/>
          </a:prstGeom>
          <a:noFill/>
          <a:ln/>
        </p:spPr>
        <p:txBody>
          <a:bodyPr wrap="square" lIns="0" tIns="0" rIns="0" bIns="0" rtlCol="0" anchor="t"/>
          <a:lstStyle/>
          <a:p>
            <a:pPr indent="0" marL="0">
              <a:lnSpc>
                <a:spcPct val="112000"/>
              </a:lnSpc>
              <a:buNone/>
            </a:pPr>
            <a:r>
              <a:rPr lang="en-US" sz="1200" dirty="0">
                <a:solidFill>
                  <a:srgbClr val="6F6F6F"/>
                </a:solidFill>
                <a:latin typeface="Inter" pitchFamily="34" charset="0"/>
                <a:ea typeface="Inter" pitchFamily="34" charset="-122"/>
                <a:cs typeface="Inter" pitchFamily="34" charset="-120"/>
              </a:rPr>
              <a:t>Each required DVN independently attests the packet header and payload hash on the destination ULN302.</a:t>
            </a:r>
            <a:endParaRPr lang="en-US" sz="1200" dirty="0"/>
          </a:p>
        </p:txBody>
      </p:sp>
      <p:sp>
        <p:nvSpPr>
          <p:cNvPr id="11" name="Shape 8"/>
          <p:cNvSpPr/>
          <p:nvPr/>
        </p:nvSpPr>
        <p:spPr>
          <a:xfrm>
            <a:off x="5059558" y="1737360"/>
            <a:ext cx="2072579" cy="2468880"/>
          </a:xfrm>
          <a:prstGeom prst="roundRect">
            <a:avLst>
              <a:gd name="adj" fmla="val 5294"/>
            </a:avLst>
          </a:prstGeom>
          <a:solidFill>
            <a:srgbClr val="FCFCFC"/>
          </a:solidFill>
          <a:ln w="9525">
            <a:solidFill>
              <a:srgbClr val="E2E2E2"/>
            </a:solidFill>
            <a:prstDash val="solid"/>
          </a:ln>
        </p:spPr>
      </p:sp>
      <p:sp>
        <p:nvSpPr>
          <p:cNvPr id="12" name="Text 9"/>
          <p:cNvSpPr txBox="1"/>
          <p:nvPr/>
        </p:nvSpPr>
        <p:spPr>
          <a:xfrm>
            <a:off x="5260726" y="1920240"/>
            <a:ext cx="1670243" cy="320040"/>
          </a:xfrm>
          <a:prstGeom prst="rect">
            <a:avLst/>
          </a:prstGeom>
          <a:noFill/>
          <a:ln/>
        </p:spPr>
        <p:txBody>
          <a:bodyPr wrap="square" lIns="0" tIns="0" rIns="0" bIns="0" rtlCol="0" anchor="t"/>
          <a:lstStyle/>
          <a:p>
            <a:pPr indent="0" marL="0">
              <a:buNone/>
            </a:pPr>
            <a:r>
              <a:rPr lang="en-US" sz="1400" b="1" dirty="0">
                <a:solidFill>
                  <a:srgbClr val="6E56CF"/>
                </a:solidFill>
                <a:latin typeface="Inter" pitchFamily="34" charset="0"/>
                <a:ea typeface="Inter" pitchFamily="34" charset="-122"/>
                <a:cs typeface="Inter" pitchFamily="34" charset="-120"/>
              </a:rPr>
              <a:t>3 · Commit</a:t>
            </a:r>
            <a:endParaRPr lang="en-US" sz="1400" dirty="0"/>
          </a:p>
        </p:txBody>
      </p:sp>
      <p:sp>
        <p:nvSpPr>
          <p:cNvPr id="13" name="Text 10"/>
          <p:cNvSpPr txBox="1"/>
          <p:nvPr/>
        </p:nvSpPr>
        <p:spPr>
          <a:xfrm>
            <a:off x="5260726" y="2304288"/>
            <a:ext cx="1670243" cy="1737360"/>
          </a:xfrm>
          <a:prstGeom prst="rect">
            <a:avLst/>
          </a:prstGeom>
          <a:noFill/>
          <a:ln/>
        </p:spPr>
        <p:txBody>
          <a:bodyPr wrap="square" lIns="0" tIns="0" rIns="0" bIns="0" rtlCol="0" anchor="t"/>
          <a:lstStyle/>
          <a:p>
            <a:pPr indent="0" marL="0">
              <a:lnSpc>
                <a:spcPct val="112000"/>
              </a:lnSpc>
              <a:buNone/>
            </a:pPr>
            <a:r>
              <a:rPr lang="en-US" sz="1200" dirty="0">
                <a:solidFill>
                  <a:srgbClr val="6F6F6F"/>
                </a:solidFill>
                <a:latin typeface="Inter" pitchFamily="34" charset="0"/>
                <a:ea typeface="Inter" pitchFamily="34" charset="-122"/>
                <a:cs typeface="Inter" pitchFamily="34" charset="-120"/>
              </a:rPr>
              <a:t>Once the required set has attested, the verification is committed on the receive ULN. Anyone can call this.</a:t>
            </a:r>
            <a:endParaRPr lang="en-US" sz="1200" dirty="0"/>
          </a:p>
        </p:txBody>
      </p:sp>
      <p:sp>
        <p:nvSpPr>
          <p:cNvPr id="14" name="Shape 11"/>
          <p:cNvSpPr/>
          <p:nvPr/>
        </p:nvSpPr>
        <p:spPr>
          <a:xfrm>
            <a:off x="7315017" y="1737360"/>
            <a:ext cx="2072579" cy="2468880"/>
          </a:xfrm>
          <a:prstGeom prst="roundRect">
            <a:avLst>
              <a:gd name="adj" fmla="val 5294"/>
            </a:avLst>
          </a:prstGeom>
          <a:solidFill>
            <a:srgbClr val="FCFCFC"/>
          </a:solidFill>
          <a:ln w="9525">
            <a:solidFill>
              <a:srgbClr val="E2E2E2"/>
            </a:solidFill>
            <a:prstDash val="solid"/>
          </a:ln>
        </p:spPr>
      </p:sp>
      <p:sp>
        <p:nvSpPr>
          <p:cNvPr id="15" name="Text 12"/>
          <p:cNvSpPr txBox="1"/>
          <p:nvPr/>
        </p:nvSpPr>
        <p:spPr>
          <a:xfrm>
            <a:off x="7516185" y="1920240"/>
            <a:ext cx="1670243" cy="320040"/>
          </a:xfrm>
          <a:prstGeom prst="rect">
            <a:avLst/>
          </a:prstGeom>
          <a:noFill/>
          <a:ln/>
        </p:spPr>
        <p:txBody>
          <a:bodyPr wrap="square" lIns="0" tIns="0" rIns="0" bIns="0" rtlCol="0" anchor="t"/>
          <a:lstStyle/>
          <a:p>
            <a:pPr indent="0" marL="0">
              <a:buNone/>
            </a:pPr>
            <a:r>
              <a:rPr lang="en-US" sz="1400" b="1" dirty="0">
                <a:solidFill>
                  <a:srgbClr val="6E56CF"/>
                </a:solidFill>
                <a:latin typeface="Inter" pitchFamily="34" charset="0"/>
                <a:ea typeface="Inter" pitchFamily="34" charset="-122"/>
                <a:cs typeface="Inter" pitchFamily="34" charset="-120"/>
              </a:rPr>
              <a:t>4 · Execute</a:t>
            </a:r>
            <a:endParaRPr lang="en-US" sz="1400" dirty="0"/>
          </a:p>
        </p:txBody>
      </p:sp>
      <p:sp>
        <p:nvSpPr>
          <p:cNvPr id="16" name="Text 13"/>
          <p:cNvSpPr txBox="1"/>
          <p:nvPr/>
        </p:nvSpPr>
        <p:spPr>
          <a:xfrm>
            <a:off x="7516185" y="2304288"/>
            <a:ext cx="1670243" cy="1737360"/>
          </a:xfrm>
          <a:prstGeom prst="rect">
            <a:avLst/>
          </a:prstGeom>
          <a:noFill/>
          <a:ln/>
        </p:spPr>
        <p:txBody>
          <a:bodyPr wrap="square" lIns="0" tIns="0" rIns="0" bIns="0" rtlCol="0" anchor="t"/>
          <a:lstStyle/>
          <a:p>
            <a:pPr indent="0" marL="0">
              <a:lnSpc>
                <a:spcPct val="112000"/>
              </a:lnSpc>
              <a:buNone/>
            </a:pPr>
            <a:r>
              <a:rPr lang="en-US" sz="1200" dirty="0">
                <a:solidFill>
                  <a:srgbClr val="6F6F6F"/>
                </a:solidFill>
                <a:latin typeface="Inter" pitchFamily="34" charset="0"/>
                <a:ea typeface="Inter" pitchFamily="34" charset="-122"/>
                <a:cs typeface="Inter" pitchFamily="34" charset="-120"/>
              </a:rPr>
              <a:t>An executor calls lz_receive on the destination OFT with the payload. Anyone can be the executor.</a:t>
            </a:r>
            <a:endParaRPr lang="en-US" sz="1200" dirty="0"/>
          </a:p>
        </p:txBody>
      </p:sp>
      <p:sp>
        <p:nvSpPr>
          <p:cNvPr id="17" name="Shape 14"/>
          <p:cNvSpPr/>
          <p:nvPr/>
        </p:nvSpPr>
        <p:spPr>
          <a:xfrm>
            <a:off x="9570476" y="1737360"/>
            <a:ext cx="2072579" cy="2468880"/>
          </a:xfrm>
          <a:prstGeom prst="roundRect">
            <a:avLst>
              <a:gd name="adj" fmla="val 5294"/>
            </a:avLst>
          </a:prstGeom>
          <a:solidFill>
            <a:srgbClr val="FCFCFC"/>
          </a:solidFill>
          <a:ln w="9525">
            <a:solidFill>
              <a:srgbClr val="E2E2E2"/>
            </a:solidFill>
            <a:prstDash val="solid"/>
          </a:ln>
        </p:spPr>
      </p:sp>
      <p:sp>
        <p:nvSpPr>
          <p:cNvPr id="18" name="Text 15"/>
          <p:cNvSpPr txBox="1"/>
          <p:nvPr/>
        </p:nvSpPr>
        <p:spPr>
          <a:xfrm>
            <a:off x="9771644" y="1920240"/>
            <a:ext cx="1670243" cy="320040"/>
          </a:xfrm>
          <a:prstGeom prst="rect">
            <a:avLst/>
          </a:prstGeom>
          <a:noFill/>
          <a:ln/>
        </p:spPr>
        <p:txBody>
          <a:bodyPr wrap="square" lIns="0" tIns="0" rIns="0" bIns="0" rtlCol="0" anchor="t"/>
          <a:lstStyle/>
          <a:p>
            <a:pPr indent="0" marL="0">
              <a:buNone/>
            </a:pPr>
            <a:r>
              <a:rPr lang="en-US" sz="1400" b="1" dirty="0">
                <a:solidFill>
                  <a:srgbClr val="171717"/>
                </a:solidFill>
                <a:latin typeface="Inter" pitchFamily="34" charset="0"/>
                <a:ea typeface="Inter" pitchFamily="34" charset="-122"/>
                <a:cs typeface="Inter" pitchFamily="34" charset="-120"/>
              </a:rPr>
              <a:t>5 · Mint</a:t>
            </a:r>
            <a:endParaRPr lang="en-US" sz="1400" dirty="0"/>
          </a:p>
        </p:txBody>
      </p:sp>
      <p:sp>
        <p:nvSpPr>
          <p:cNvPr id="19" name="Text 16"/>
          <p:cNvSpPr txBox="1"/>
          <p:nvPr/>
        </p:nvSpPr>
        <p:spPr>
          <a:xfrm>
            <a:off x="9771644" y="2304288"/>
            <a:ext cx="1670243" cy="1737360"/>
          </a:xfrm>
          <a:prstGeom prst="rect">
            <a:avLst/>
          </a:prstGeom>
          <a:noFill/>
          <a:ln/>
        </p:spPr>
        <p:txBody>
          <a:bodyPr wrap="square" lIns="0" tIns="0" rIns="0" bIns="0" rtlCol="0" anchor="t"/>
          <a:lstStyle/>
          <a:p>
            <a:pPr indent="0" marL="0">
              <a:lnSpc>
                <a:spcPct val="112000"/>
              </a:lnSpc>
              <a:buNone/>
            </a:pPr>
            <a:r>
              <a:rPr lang="en-US" sz="1200" dirty="0">
                <a:solidFill>
                  <a:srgbClr val="6F6F6F"/>
                </a:solidFill>
                <a:latin typeface="Inter" pitchFamily="34" charset="0"/>
                <a:ea typeface="Inter" pitchFamily="34" charset="-122"/>
                <a:cs typeface="Inter" pitchFamily="34" charset="-120"/>
              </a:rPr>
              <a:t>The OFT asks the SAC-manager to mint USDT0 to the recipient under MINTER_ROLE.</a:t>
            </a:r>
            <a:endParaRPr lang="en-US" sz="1200" dirty="0"/>
          </a:p>
        </p:txBody>
      </p:sp>
      <p:sp>
        <p:nvSpPr>
          <p:cNvPr id="20" name="Shape 17"/>
          <p:cNvSpPr/>
          <p:nvPr/>
        </p:nvSpPr>
        <p:spPr>
          <a:xfrm>
            <a:off x="548640" y="4480560"/>
            <a:ext cx="11094415" cy="1143000"/>
          </a:xfrm>
          <a:prstGeom prst="roundRect">
            <a:avLst>
              <a:gd name="adj" fmla="val 8000"/>
            </a:avLst>
          </a:prstGeom>
          <a:solidFill>
            <a:srgbClr val="F5F2FF"/>
          </a:solidFill>
          <a:ln w="12700">
            <a:solidFill>
              <a:srgbClr val="F5F2FF"/>
            </a:solidFill>
            <a:prstDash val="solid"/>
          </a:ln>
        </p:spPr>
      </p:sp>
      <p:sp>
        <p:nvSpPr>
          <p:cNvPr id="21" name="Text 18"/>
          <p:cNvSpPr txBox="1"/>
          <p:nvPr/>
        </p:nvSpPr>
        <p:spPr>
          <a:xfrm>
            <a:off x="777240" y="4590288"/>
            <a:ext cx="10637215" cy="923544"/>
          </a:xfrm>
          <a:prstGeom prst="rect">
            <a:avLst/>
          </a:prstGeom>
          <a:noFill/>
          <a:ln/>
        </p:spPr>
        <p:txBody>
          <a:bodyPr wrap="square" lIns="0" tIns="0" rIns="0" bIns="0" rtlCol="0" anchor="ctr"/>
          <a:lstStyle/>
          <a:p>
            <a:pPr indent="0" marL="0">
              <a:lnSpc>
                <a:spcPct val="112000"/>
              </a:lnSpc>
              <a:buNone/>
            </a:pPr>
            <a:r>
              <a:rPr lang="en-US" sz="1300" dirty="0">
                <a:solidFill>
                  <a:srgbClr val="171717"/>
                </a:solidFill>
                <a:latin typeface="Inter" pitchFamily="34" charset="0"/>
                <a:ea typeface="Inter" pitchFamily="34" charset="-122"/>
                <a:cs typeface="Inter" pitchFamily="34" charset="-120"/>
              </a:rPr>
              <a:t>USDT0's send config from Stellar to Ethereum, read live on the Inspector: three required DVNs (LayerZero Labs, Canary and USDT0) and 320 Stellar confirmations before they attest. The library default for that pathway is a placeholder; production OApps set their own.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16"/>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9E8CFC"/>
                </a:solidFill>
                <a:latin typeface="Inter" pitchFamily="34" charset="0"/>
                <a:ea typeface="Inter" pitchFamily="34" charset="-122"/>
                <a:cs typeface="Inter" pitchFamily="34" charset="-120"/>
              </a:rPr>
              <a:t>MECHANICS</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EDEDED"/>
                </a:solidFill>
                <a:latin typeface="Inter" pitchFamily="34" charset="0"/>
                <a:ea typeface="Inter" pitchFamily="34" charset="-122"/>
                <a:cs typeface="Inter" pitchFamily="34" charset="-120"/>
              </a:rPr>
              <a:t>The Stellar twist: three contracts, one token</a:t>
            </a:r>
            <a:endParaRPr lang="en-US" sz="3200" dirty="0"/>
          </a:p>
        </p:txBody>
      </p:sp>
      <p:sp>
        <p:nvSpPr>
          <p:cNvPr id="5" name="Text 2"/>
          <p:cNvSpPr txBox="1"/>
          <p:nvPr/>
        </p:nvSpPr>
        <p:spPr>
          <a:xfrm>
            <a:off x="548640" y="1645920"/>
            <a:ext cx="11094415" cy="640080"/>
          </a:xfrm>
          <a:prstGeom prst="rect">
            <a:avLst/>
          </a:prstGeom>
          <a:noFill/>
          <a:ln/>
        </p:spPr>
        <p:txBody>
          <a:bodyPr wrap="square" lIns="0" tIns="0" rIns="0" bIns="0" rtlCol="0" anchor="t"/>
          <a:lstStyle/>
          <a:p>
            <a:pPr indent="0" marL="0">
              <a:lnSpc>
                <a:spcPct val="115000"/>
              </a:lnSpc>
              <a:buNone/>
            </a:pPr>
            <a:r>
              <a:rPr lang="en-US" sz="1300" dirty="0">
                <a:solidFill>
                  <a:srgbClr val="A0A0A0"/>
                </a:solidFill>
                <a:latin typeface="Inter" pitchFamily="34" charset="0"/>
                <a:ea typeface="Inter" pitchFamily="34" charset="-122"/>
                <a:cs typeface="Inter" pitchFamily="34" charset="-120"/>
              </a:rPr>
              <a:t>On EVM chains one contract is both the token and the OApp. On Stellar the token is a classic asset with a Stellar Asset Contract, and the LayerZero logic lives in a separate OFT contract that mints through a SAC-manager.</a:t>
            </a:r>
            <a:endParaRPr lang="en-US" sz="1300" dirty="0"/>
          </a:p>
        </p:txBody>
      </p:sp>
      <p:sp>
        <p:nvSpPr>
          <p:cNvPr id="6" name="Shape 3"/>
          <p:cNvSpPr/>
          <p:nvPr/>
        </p:nvSpPr>
        <p:spPr>
          <a:xfrm>
            <a:off x="548640" y="2423160"/>
            <a:ext cx="5432908" cy="1783080"/>
          </a:xfrm>
          <a:prstGeom prst="roundRect">
            <a:avLst>
              <a:gd name="adj" fmla="val 6154"/>
            </a:avLst>
          </a:prstGeom>
          <a:solidFill>
            <a:srgbClr val="232323"/>
          </a:solidFill>
          <a:ln w="9525">
            <a:solidFill>
              <a:srgbClr val="343434"/>
            </a:solidFill>
            <a:prstDash val="solid"/>
          </a:ln>
        </p:spPr>
      </p:sp>
      <p:sp>
        <p:nvSpPr>
          <p:cNvPr id="7" name="Text 4"/>
          <p:cNvSpPr txBox="1"/>
          <p:nvPr/>
        </p:nvSpPr>
        <p:spPr>
          <a:xfrm>
            <a:off x="749808" y="2606040"/>
            <a:ext cx="5030572" cy="320040"/>
          </a:xfrm>
          <a:prstGeom prst="rect">
            <a:avLst/>
          </a:prstGeom>
          <a:noFill/>
          <a:ln/>
        </p:spPr>
        <p:txBody>
          <a:bodyPr wrap="square" lIns="0" tIns="0" rIns="0" bIns="0" rtlCol="0" anchor="t"/>
          <a:lstStyle/>
          <a:p>
            <a:pPr indent="0" marL="0">
              <a:buNone/>
            </a:pPr>
            <a:r>
              <a:rPr lang="en-US" sz="1500" b="1" dirty="0">
                <a:solidFill>
                  <a:srgbClr val="EDEDED"/>
                </a:solidFill>
                <a:latin typeface="Inter" pitchFamily="34" charset="0"/>
                <a:ea typeface="Inter" pitchFamily="34" charset="-122"/>
                <a:cs typeface="Inter" pitchFamily="34" charset="-120"/>
              </a:rPr>
              <a:t>Classic asset USDT0</a:t>
            </a:r>
            <a:endParaRPr lang="en-US" sz="1500" dirty="0"/>
          </a:p>
        </p:txBody>
      </p:sp>
      <p:sp>
        <p:nvSpPr>
          <p:cNvPr id="8" name="Text 5"/>
          <p:cNvSpPr txBox="1"/>
          <p:nvPr/>
        </p:nvSpPr>
        <p:spPr>
          <a:xfrm>
            <a:off x="749808" y="2990088"/>
            <a:ext cx="5030572" cy="256032"/>
          </a:xfrm>
          <a:prstGeom prst="rect">
            <a:avLst/>
          </a:prstGeom>
          <a:noFill/>
          <a:ln/>
        </p:spPr>
        <p:txBody>
          <a:bodyPr wrap="square" lIns="0" tIns="0" rIns="0" bIns="0" rtlCol="0" anchor="t"/>
          <a:lstStyle/>
          <a:p>
            <a:pPr indent="0" marL="0">
              <a:buNone/>
            </a:pPr>
            <a:r>
              <a:rPr lang="en-US" sz="1150" dirty="0">
                <a:solidFill>
                  <a:srgbClr val="9E8CFC"/>
                </a:solidFill>
                <a:latin typeface="Inconsolata" pitchFamily="34" charset="0"/>
                <a:ea typeface="Inconsolata" pitchFamily="34" charset="-122"/>
                <a:cs typeface="Inconsolata" pitchFamily="34" charset="-120"/>
              </a:rPr>
              <a:t>GATISXX6BZ6N…S6KXJHN6Q</a:t>
            </a:r>
            <a:endParaRPr lang="en-US" sz="1150" dirty="0"/>
          </a:p>
        </p:txBody>
      </p:sp>
      <p:sp>
        <p:nvSpPr>
          <p:cNvPr id="9" name="Text 6"/>
          <p:cNvSpPr txBox="1"/>
          <p:nvPr/>
        </p:nvSpPr>
        <p:spPr>
          <a:xfrm>
            <a:off x="749808" y="3282696"/>
            <a:ext cx="5030572" cy="758952"/>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Issuer key locked: master weight 0, no signers</a:t>
            </a:r>
            <a:endParaRPr lang="en-US" sz="1200" dirty="0"/>
          </a:p>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Flags: auth_revocable and auth_clawback_enabled</a:t>
            </a:r>
            <a:endParaRPr lang="en-US" sz="1200" dirty="0"/>
          </a:p>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No home_domain, so no stellar.toml</a:t>
            </a:r>
            <a:endParaRPr lang="en-US" sz="1200" dirty="0"/>
          </a:p>
        </p:txBody>
      </p:sp>
      <p:sp>
        <p:nvSpPr>
          <p:cNvPr id="10" name="Shape 7"/>
          <p:cNvSpPr/>
          <p:nvPr/>
        </p:nvSpPr>
        <p:spPr>
          <a:xfrm>
            <a:off x="6210148" y="2423160"/>
            <a:ext cx="5432908" cy="1783080"/>
          </a:xfrm>
          <a:prstGeom prst="roundRect">
            <a:avLst>
              <a:gd name="adj" fmla="val 6154"/>
            </a:avLst>
          </a:prstGeom>
          <a:solidFill>
            <a:srgbClr val="232323"/>
          </a:solidFill>
          <a:ln w="9525">
            <a:solidFill>
              <a:srgbClr val="343434"/>
            </a:solidFill>
            <a:prstDash val="solid"/>
          </a:ln>
        </p:spPr>
      </p:sp>
      <p:sp>
        <p:nvSpPr>
          <p:cNvPr id="11" name="Text 8"/>
          <p:cNvSpPr txBox="1"/>
          <p:nvPr/>
        </p:nvSpPr>
        <p:spPr>
          <a:xfrm>
            <a:off x="6411316" y="2606040"/>
            <a:ext cx="5030572" cy="320040"/>
          </a:xfrm>
          <a:prstGeom prst="rect">
            <a:avLst/>
          </a:prstGeom>
          <a:noFill/>
          <a:ln/>
        </p:spPr>
        <p:txBody>
          <a:bodyPr wrap="square" lIns="0" tIns="0" rIns="0" bIns="0" rtlCol="0" anchor="t"/>
          <a:lstStyle/>
          <a:p>
            <a:pPr indent="0" marL="0">
              <a:buNone/>
            </a:pPr>
            <a:r>
              <a:rPr lang="en-US" sz="1500" b="1" dirty="0">
                <a:solidFill>
                  <a:srgbClr val="EDEDED"/>
                </a:solidFill>
                <a:latin typeface="Inter" pitchFamily="34" charset="0"/>
                <a:ea typeface="Inter" pitchFamily="34" charset="-122"/>
                <a:cs typeface="Inter" pitchFamily="34" charset="-120"/>
              </a:rPr>
              <a:t>Stellar Asset Contract (SAC)</a:t>
            </a:r>
            <a:endParaRPr lang="en-US" sz="1500" dirty="0"/>
          </a:p>
        </p:txBody>
      </p:sp>
      <p:sp>
        <p:nvSpPr>
          <p:cNvPr id="12" name="Text 9"/>
          <p:cNvSpPr txBox="1"/>
          <p:nvPr/>
        </p:nvSpPr>
        <p:spPr>
          <a:xfrm>
            <a:off x="6411316" y="2990088"/>
            <a:ext cx="5030572" cy="256032"/>
          </a:xfrm>
          <a:prstGeom prst="rect">
            <a:avLst/>
          </a:prstGeom>
          <a:noFill/>
          <a:ln/>
        </p:spPr>
        <p:txBody>
          <a:bodyPr wrap="square" lIns="0" tIns="0" rIns="0" bIns="0" rtlCol="0" anchor="t"/>
          <a:lstStyle/>
          <a:p>
            <a:pPr indent="0" marL="0">
              <a:buNone/>
            </a:pPr>
            <a:r>
              <a:rPr lang="en-US" sz="1150" dirty="0">
                <a:solidFill>
                  <a:srgbClr val="9E8CFC"/>
                </a:solidFill>
                <a:latin typeface="Inconsolata" pitchFamily="34" charset="0"/>
                <a:ea typeface="Inconsolata" pitchFamily="34" charset="-122"/>
                <a:cs typeface="Inconsolata" pitchFamily="34" charset="-120"/>
              </a:rPr>
              <a:t>CBSJZEIO5C7K…JKM4R26YF</a:t>
            </a:r>
            <a:endParaRPr lang="en-US" sz="1150" dirty="0"/>
          </a:p>
        </p:txBody>
      </p:sp>
      <p:sp>
        <p:nvSpPr>
          <p:cNvPr id="13" name="Text 10"/>
          <p:cNvSpPr txBox="1"/>
          <p:nvPr/>
        </p:nvSpPr>
        <p:spPr>
          <a:xfrm>
            <a:off x="6411316" y="3282696"/>
            <a:ext cx="5030572" cy="758952"/>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SEP-41 interface: balance, transfer, burn</a:t>
            </a:r>
            <a:endParaRPr lang="en-US" sz="1200" dirty="0"/>
          </a:p>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7 decimals, symbol USDT0</a:t>
            </a:r>
            <a:endParaRPr lang="en-US" sz="1200" dirty="0"/>
          </a:p>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admin() is the SAC-manager, not a key</a:t>
            </a:r>
            <a:endParaRPr lang="en-US" sz="1200" dirty="0"/>
          </a:p>
        </p:txBody>
      </p:sp>
      <p:sp>
        <p:nvSpPr>
          <p:cNvPr id="14" name="Shape 11"/>
          <p:cNvSpPr/>
          <p:nvPr/>
        </p:nvSpPr>
        <p:spPr>
          <a:xfrm>
            <a:off x="548640" y="4434840"/>
            <a:ext cx="5432908" cy="1783080"/>
          </a:xfrm>
          <a:prstGeom prst="roundRect">
            <a:avLst>
              <a:gd name="adj" fmla="val 6154"/>
            </a:avLst>
          </a:prstGeom>
          <a:solidFill>
            <a:srgbClr val="232323"/>
          </a:solidFill>
          <a:ln w="9525">
            <a:solidFill>
              <a:srgbClr val="343434"/>
            </a:solidFill>
            <a:prstDash val="solid"/>
          </a:ln>
        </p:spPr>
      </p:sp>
      <p:sp>
        <p:nvSpPr>
          <p:cNvPr id="15" name="Text 12"/>
          <p:cNvSpPr txBox="1"/>
          <p:nvPr/>
        </p:nvSpPr>
        <p:spPr>
          <a:xfrm>
            <a:off x="749808" y="4617720"/>
            <a:ext cx="5030572" cy="320040"/>
          </a:xfrm>
          <a:prstGeom prst="rect">
            <a:avLst/>
          </a:prstGeom>
          <a:noFill/>
          <a:ln/>
        </p:spPr>
        <p:txBody>
          <a:bodyPr wrap="square" lIns="0" tIns="0" rIns="0" bIns="0" rtlCol="0" anchor="t"/>
          <a:lstStyle/>
          <a:p>
            <a:pPr indent="0" marL="0">
              <a:buNone/>
            </a:pPr>
            <a:r>
              <a:rPr lang="en-US" sz="1500" b="1" dirty="0">
                <a:solidFill>
                  <a:srgbClr val="EDEDED"/>
                </a:solidFill>
                <a:latin typeface="Inter" pitchFamily="34" charset="0"/>
                <a:ea typeface="Inter" pitchFamily="34" charset="-122"/>
                <a:cs typeface="Inter" pitchFamily="34" charset="-120"/>
              </a:rPr>
              <a:t>SAC-manager</a:t>
            </a:r>
            <a:endParaRPr lang="en-US" sz="1500" dirty="0"/>
          </a:p>
        </p:txBody>
      </p:sp>
      <p:sp>
        <p:nvSpPr>
          <p:cNvPr id="16" name="Text 13"/>
          <p:cNvSpPr txBox="1"/>
          <p:nvPr/>
        </p:nvSpPr>
        <p:spPr>
          <a:xfrm>
            <a:off x="749808" y="5001768"/>
            <a:ext cx="5030572" cy="256032"/>
          </a:xfrm>
          <a:prstGeom prst="rect">
            <a:avLst/>
          </a:prstGeom>
          <a:noFill/>
          <a:ln/>
        </p:spPr>
        <p:txBody>
          <a:bodyPr wrap="square" lIns="0" tIns="0" rIns="0" bIns="0" rtlCol="0" anchor="t"/>
          <a:lstStyle/>
          <a:p>
            <a:pPr indent="0" marL="0">
              <a:buNone/>
            </a:pPr>
            <a:r>
              <a:rPr lang="en-US" sz="1150" dirty="0">
                <a:solidFill>
                  <a:srgbClr val="9E8CFC"/>
                </a:solidFill>
                <a:latin typeface="Inconsolata" pitchFamily="34" charset="0"/>
                <a:ea typeface="Inconsolata" pitchFamily="34" charset="-122"/>
                <a:cs typeface="Inconsolata" pitchFamily="34" charset="-120"/>
              </a:rPr>
              <a:t>CA3GUWLOS3QK…L3KZYWGJ</a:t>
            </a:r>
            <a:endParaRPr lang="en-US" sz="1150" dirty="0"/>
          </a:p>
        </p:txBody>
      </p:sp>
      <p:sp>
        <p:nvSpPr>
          <p:cNvPr id="17" name="Text 14"/>
          <p:cNvSpPr txBox="1"/>
          <p:nvPr/>
        </p:nvSpPr>
        <p:spPr>
          <a:xfrm>
            <a:off x="749808" y="5294376"/>
            <a:ext cx="5030572" cy="758952"/>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Holds the SAC admin role</a:t>
            </a:r>
            <a:endParaRPr lang="en-US" sz="1200" dirty="0"/>
          </a:p>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Mints only for MINTER_ROLE holders: the OFT</a:t>
            </a:r>
            <a:endParaRPr lang="en-US" sz="1200" dirty="0"/>
          </a:p>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Owned by a OneSig multisig (CBCZ5CET…)</a:t>
            </a:r>
            <a:endParaRPr lang="en-US" sz="1200" dirty="0"/>
          </a:p>
        </p:txBody>
      </p:sp>
      <p:sp>
        <p:nvSpPr>
          <p:cNvPr id="18" name="Shape 15"/>
          <p:cNvSpPr/>
          <p:nvPr/>
        </p:nvSpPr>
        <p:spPr>
          <a:xfrm>
            <a:off x="6210148" y="4434840"/>
            <a:ext cx="5432908" cy="1783080"/>
          </a:xfrm>
          <a:prstGeom prst="roundRect">
            <a:avLst>
              <a:gd name="adj" fmla="val 6154"/>
            </a:avLst>
          </a:prstGeom>
          <a:solidFill>
            <a:srgbClr val="232323"/>
          </a:solidFill>
          <a:ln w="9525">
            <a:solidFill>
              <a:srgbClr val="9E8CFC"/>
            </a:solidFill>
            <a:prstDash val="solid"/>
          </a:ln>
        </p:spPr>
      </p:sp>
      <p:sp>
        <p:nvSpPr>
          <p:cNvPr id="19" name="Text 16"/>
          <p:cNvSpPr txBox="1"/>
          <p:nvPr/>
        </p:nvSpPr>
        <p:spPr>
          <a:xfrm>
            <a:off x="6411316" y="4617720"/>
            <a:ext cx="5030572" cy="320040"/>
          </a:xfrm>
          <a:prstGeom prst="rect">
            <a:avLst/>
          </a:prstGeom>
          <a:noFill/>
          <a:ln/>
        </p:spPr>
        <p:txBody>
          <a:bodyPr wrap="square" lIns="0" tIns="0" rIns="0" bIns="0" rtlCol="0" anchor="t"/>
          <a:lstStyle/>
          <a:p>
            <a:pPr indent="0" marL="0">
              <a:buNone/>
            </a:pPr>
            <a:r>
              <a:rPr lang="en-US" sz="1500" b="1" dirty="0">
                <a:solidFill>
                  <a:srgbClr val="EDEDED"/>
                </a:solidFill>
                <a:latin typeface="Inter" pitchFamily="34" charset="0"/>
                <a:ea typeface="Inter" pitchFamily="34" charset="-122"/>
                <a:cs typeface="Inter" pitchFamily="34" charset="-120"/>
              </a:rPr>
              <a:t>OFT contract (the OApp)</a:t>
            </a:r>
            <a:endParaRPr lang="en-US" sz="1500" dirty="0"/>
          </a:p>
        </p:txBody>
      </p:sp>
      <p:sp>
        <p:nvSpPr>
          <p:cNvPr id="20" name="Text 17"/>
          <p:cNvSpPr txBox="1"/>
          <p:nvPr/>
        </p:nvSpPr>
        <p:spPr>
          <a:xfrm>
            <a:off x="6411316" y="5001768"/>
            <a:ext cx="5030572" cy="256032"/>
          </a:xfrm>
          <a:prstGeom prst="rect">
            <a:avLst/>
          </a:prstGeom>
          <a:noFill/>
          <a:ln/>
        </p:spPr>
        <p:txBody>
          <a:bodyPr wrap="square" lIns="0" tIns="0" rIns="0" bIns="0" rtlCol="0" anchor="t"/>
          <a:lstStyle/>
          <a:p>
            <a:pPr indent="0" marL="0">
              <a:buNone/>
            </a:pPr>
            <a:r>
              <a:rPr lang="en-US" sz="1150" dirty="0">
                <a:solidFill>
                  <a:srgbClr val="9E8CFC"/>
                </a:solidFill>
                <a:latin typeface="Inconsolata" pitchFamily="34" charset="0"/>
                <a:ea typeface="Inconsolata" pitchFamily="34" charset="-122"/>
                <a:cs typeface="Inconsolata" pitchFamily="34" charset="-120"/>
              </a:rPr>
              <a:t>CBOWOLFSDM5P…XINKUMMF6</a:t>
            </a:r>
            <a:endParaRPr lang="en-US" sz="1150" dirty="0"/>
          </a:p>
        </p:txBody>
      </p:sp>
      <p:sp>
        <p:nvSpPr>
          <p:cNvPr id="21" name="Text 18"/>
          <p:cNvSpPr txBox="1"/>
          <p:nvPr/>
        </p:nvSpPr>
        <p:spPr>
          <a:xfrm>
            <a:off x="6411316" y="5294376"/>
            <a:ext cx="5030572" cy="758952"/>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quote_oft, quote_send, send, lz_receive</a:t>
            </a:r>
            <a:endParaRPr lang="en-US" sz="1200" dirty="0"/>
          </a:p>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Peers, enforced options, oft_type MintBurn</a:t>
            </a:r>
            <a:endParaRPr lang="en-US" sz="1200" dirty="0"/>
          </a:p>
          <a:p>
            <a:pPr marL="152400" indent="-152400">
              <a:lnSpc>
                <a:spcPct val="110000"/>
              </a:lnSpc>
              <a:spcAft>
                <a:spcPts val="400"/>
              </a:spcAft>
              <a:buSzPct val="100000"/>
              <a:buChar char="•"/>
            </a:pPr>
            <a:r>
              <a:rPr lang="en-US" sz="1200" dirty="0">
                <a:solidFill>
                  <a:srgbClr val="A0A0A0"/>
                </a:solidFill>
                <a:latin typeface="Inter" pitchFamily="34" charset="0"/>
                <a:ea typeface="Inter" pitchFamily="34" charset="-122"/>
                <a:cs typeface="Inter" pitchFamily="34" charset="-120"/>
              </a:rPr>
              <a:t>token() = SAC · endpoint() = EndpointV2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8"/>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6E56CF"/>
                </a:solidFill>
                <a:latin typeface="Inter" pitchFamily="34" charset="0"/>
                <a:ea typeface="Inter" pitchFamily="34" charset="-122"/>
                <a:cs typeface="Inter" pitchFamily="34" charset="-120"/>
              </a:rPr>
              <a:t>BUILDING</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171717"/>
                </a:solidFill>
                <a:latin typeface="Inter" pitchFamily="34" charset="0"/>
                <a:ea typeface="Inter" pitchFamily="34" charset="-122"/>
                <a:cs typeface="Inter" pitchFamily="34" charset="-120"/>
              </a:rPr>
              <a:t>Reading USDT0 needs no key and no signature</a:t>
            </a:r>
            <a:endParaRPr lang="en-US" sz="3200" dirty="0"/>
          </a:p>
        </p:txBody>
      </p:sp>
      <p:sp>
        <p:nvSpPr>
          <p:cNvPr id="5" name="Shape 2"/>
          <p:cNvSpPr/>
          <p:nvPr/>
        </p:nvSpPr>
        <p:spPr>
          <a:xfrm>
            <a:off x="548640" y="1691640"/>
            <a:ext cx="5432908" cy="2148840"/>
          </a:xfrm>
          <a:prstGeom prst="roundRect">
            <a:avLst>
              <a:gd name="adj" fmla="val 5106"/>
            </a:avLst>
          </a:prstGeom>
          <a:solidFill>
            <a:srgbClr val="FCFCFC"/>
          </a:solidFill>
          <a:ln w="9525">
            <a:solidFill>
              <a:srgbClr val="E2E2E2"/>
            </a:solidFill>
            <a:prstDash val="solid"/>
          </a:ln>
        </p:spPr>
      </p:sp>
      <p:sp>
        <p:nvSpPr>
          <p:cNvPr id="6" name="Text 3"/>
          <p:cNvSpPr txBox="1"/>
          <p:nvPr/>
        </p:nvSpPr>
        <p:spPr>
          <a:xfrm>
            <a:off x="749808" y="1874520"/>
            <a:ext cx="5030572"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Horizon (classic ledger)</a:t>
            </a:r>
            <a:endParaRPr lang="en-US" sz="1500" dirty="0"/>
          </a:p>
        </p:txBody>
      </p:sp>
      <p:sp>
        <p:nvSpPr>
          <p:cNvPr id="7" name="Text 4"/>
          <p:cNvSpPr txBox="1"/>
          <p:nvPr/>
        </p:nvSpPr>
        <p:spPr>
          <a:xfrm>
            <a:off x="749808" y="2258568"/>
            <a:ext cx="5030572" cy="141732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GET /assets?asset_code=USDT0&amp;asset_issuer=GATI…  →  supply split, holder count, issuer flags</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GET /accounts/GATISXX6…  →  signers and thresholds (master weight 0 = locked), home_domain</a:t>
            </a:r>
            <a:endParaRPr lang="en-US" sz="1200" dirty="0"/>
          </a:p>
        </p:txBody>
      </p:sp>
      <p:sp>
        <p:nvSpPr>
          <p:cNvPr id="8" name="Shape 5"/>
          <p:cNvSpPr/>
          <p:nvPr/>
        </p:nvSpPr>
        <p:spPr>
          <a:xfrm>
            <a:off x="6210148" y="1691640"/>
            <a:ext cx="5432908" cy="2148840"/>
          </a:xfrm>
          <a:prstGeom prst="roundRect">
            <a:avLst>
              <a:gd name="adj" fmla="val 5106"/>
            </a:avLst>
          </a:prstGeom>
          <a:solidFill>
            <a:srgbClr val="FCFCFC"/>
          </a:solidFill>
          <a:ln w="9525">
            <a:solidFill>
              <a:srgbClr val="E2E2E2"/>
            </a:solidFill>
            <a:prstDash val="solid"/>
          </a:ln>
        </p:spPr>
      </p:sp>
      <p:sp>
        <p:nvSpPr>
          <p:cNvPr id="9" name="Text 6"/>
          <p:cNvSpPr txBox="1"/>
          <p:nvPr/>
        </p:nvSpPr>
        <p:spPr>
          <a:xfrm>
            <a:off x="6411316" y="1874520"/>
            <a:ext cx="5030572"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Soroban RPC · simulateTransaction</a:t>
            </a:r>
            <a:endParaRPr lang="en-US" sz="1500" dirty="0"/>
          </a:p>
        </p:txBody>
      </p:sp>
      <p:sp>
        <p:nvSpPr>
          <p:cNvPr id="10" name="Text 7"/>
          <p:cNvSpPr txBox="1"/>
          <p:nvPr/>
        </p:nvSpPr>
        <p:spPr>
          <a:xfrm>
            <a:off x="6411316" y="2258568"/>
            <a:ext cx="5030572" cy="141732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OFT.token() · oft_type() · peer(eid) · is_paused()</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OFT.quote_oft(p) · quote_send(p, pay_in_lz_token)</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SAC.admin() · ULN302.effective_send_ul_config(…)</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Simulate with any funded G account as the source. Nothing is signed, no API key.</a:t>
            </a:r>
            <a:endParaRPr lang="en-US" sz="1200" dirty="0"/>
          </a:p>
        </p:txBody>
      </p:sp>
      <p:sp>
        <p:nvSpPr>
          <p:cNvPr id="11" name="Shape 8"/>
          <p:cNvSpPr/>
          <p:nvPr/>
        </p:nvSpPr>
        <p:spPr>
          <a:xfrm>
            <a:off x="548640" y="4069080"/>
            <a:ext cx="11094415" cy="1097280"/>
          </a:xfrm>
          <a:prstGeom prst="roundRect">
            <a:avLst>
              <a:gd name="adj" fmla="val 8333"/>
            </a:avLst>
          </a:prstGeom>
          <a:solidFill>
            <a:srgbClr val="F5F2FF"/>
          </a:solidFill>
          <a:ln w="12700">
            <a:solidFill>
              <a:srgbClr val="F5F2FF"/>
            </a:solidFill>
            <a:prstDash val="solid"/>
          </a:ln>
        </p:spPr>
      </p:sp>
      <p:sp>
        <p:nvSpPr>
          <p:cNvPr id="12" name="Text 9"/>
          <p:cNvSpPr txBox="1"/>
          <p:nvPr/>
        </p:nvSpPr>
        <p:spPr>
          <a:xfrm>
            <a:off x="777240" y="4178808"/>
            <a:ext cx="10637215" cy="877824"/>
          </a:xfrm>
          <a:prstGeom prst="rect">
            <a:avLst/>
          </a:prstGeom>
          <a:noFill/>
          <a:ln/>
        </p:spPr>
        <p:txBody>
          <a:bodyPr wrap="square" lIns="0" tIns="0" rIns="0" bIns="0" rtlCol="0" anchor="ctr"/>
          <a:lstStyle/>
          <a:p>
            <a:pPr indent="0" marL="0">
              <a:lnSpc>
                <a:spcPct val="112000"/>
              </a:lnSpc>
              <a:buNone/>
            </a:pPr>
            <a:r>
              <a:rPr lang="en-US" sz="1300" dirty="0">
                <a:solidFill>
                  <a:srgbClr val="171717"/>
                </a:solidFill>
                <a:latin typeface="Inter" pitchFamily="34" charset="0"/>
                <a:ea typeface="Inter" pitchFamily="34" charset="-122"/>
                <a:cs typeface="Inter" pitchFamily="34" charset="-120"/>
              </a:rPr>
              <a:t>The registry is the source of truth: GET metadata.layerzero-api.com/v1/metadata/deployments gives endpoint, ULN, executor and DVN addresses per chain. The Stellar testnet endpoint was redeployed in August 2026; every hardcoded address from before is stale.</a:t>
            </a:r>
            <a:endParaRPr lang="en-US" sz="1300" dirty="0"/>
          </a:p>
        </p:txBody>
      </p:sp>
      <p:sp>
        <p:nvSpPr>
          <p:cNvPr id="13" name="Text 10"/>
          <p:cNvSpPr txBox="1"/>
          <p:nvPr/>
        </p:nvSpPr>
        <p:spPr>
          <a:xfrm>
            <a:off x="548640" y="5394960"/>
            <a:ext cx="11094415" cy="365760"/>
          </a:xfrm>
          <a:prstGeom prst="rect">
            <a:avLst/>
          </a:prstGeom>
          <a:noFill/>
          <a:ln/>
        </p:spPr>
        <p:txBody>
          <a:bodyPr wrap="square" lIns="0" tIns="0" rIns="0" bIns="0" rtlCol="0" anchor="t"/>
          <a:lstStyle/>
          <a:p>
            <a:pPr indent="0" marL="0">
              <a:lnSpc>
                <a:spcPct val="115000"/>
              </a:lnSpc>
              <a:buNone/>
            </a:pPr>
            <a:r>
              <a:rPr lang="en-US" sz="1200" dirty="0">
                <a:solidFill>
                  <a:srgbClr val="5746AF"/>
                </a:solidFill>
                <a:latin typeface="Inconsolata" pitchFamily="34" charset="0"/>
                <a:ea typeface="Inconsolata" pitchFamily="34" charset="-122"/>
                <a:cs typeface="Inconsolata" pitchFamily="34" charset="-120"/>
              </a:rPr>
              <a:t>stellar contract invoke --network mainnet --source-account &lt;any G&gt; --id CBOWOLFS… -- peer --eid 30101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616"/>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9E8CFC"/>
                </a:solidFill>
                <a:latin typeface="Inter" pitchFamily="34" charset="0"/>
                <a:ea typeface="Inter" pitchFamily="34" charset="-122"/>
                <a:cs typeface="Inter" pitchFamily="34" charset="-120"/>
              </a:rPr>
              <a:t>BUILDING</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EDEDED"/>
                </a:solidFill>
                <a:latin typeface="Inter" pitchFamily="34" charset="0"/>
                <a:ea typeface="Inter" pitchFamily="34" charset="-122"/>
                <a:cs typeface="Inter" pitchFamily="34" charset="-120"/>
              </a:rPr>
              <a:t>Sending USDT0 from Stellar</a:t>
            </a:r>
            <a:endParaRPr lang="en-US" sz="3200" dirty="0"/>
          </a:p>
        </p:txBody>
      </p:sp>
      <p:sp>
        <p:nvSpPr>
          <p:cNvPr id="5" name="Text 2"/>
          <p:cNvSpPr txBox="1"/>
          <p:nvPr/>
        </p:nvSpPr>
        <p:spPr>
          <a:xfrm>
            <a:off x="548640" y="1737360"/>
            <a:ext cx="6492240" cy="3566160"/>
          </a:xfrm>
          <a:prstGeom prst="rect">
            <a:avLst/>
          </a:prstGeom>
          <a:noFill/>
          <a:ln/>
        </p:spPr>
        <p:txBody>
          <a:bodyPr wrap="square" lIns="0" tIns="0" rIns="0" bIns="0" rtlCol="0" anchor="t"/>
          <a:lstStyle/>
          <a:p>
            <a:pPr marL="342900" indent="-342900">
              <a:lnSpc>
                <a:spcPct val="115000"/>
              </a:lnSpc>
              <a:spcAft>
                <a:spcPts val="800"/>
              </a:spcAft>
              <a:buSzPct val="100000"/>
              <a:buFont typeface="+mj-lt"/>
              <a:buAutoNum type="arabicPeriod" startAt="1"/>
            </a:pPr>
            <a:r>
              <a:rPr lang="en-US" sz="1400" dirty="0">
                <a:solidFill>
                  <a:srgbClr val="EDEDED"/>
                </a:solidFill>
                <a:latin typeface="Inter" pitchFamily="34" charset="0"/>
                <a:ea typeface="Inter" pitchFamily="34" charset="-122"/>
                <a:cs typeface="Inter" pitchFamily="34" charset="-120"/>
              </a:rPr>
              <a:t>Build the SendParam: dst_eid, to (32 raw bytes), amount_ld, min_amount_ld, extra_options, compose_msg.</a:t>
            </a:r>
            <a:endParaRPr lang="en-US" sz="1400" dirty="0"/>
          </a:p>
          <a:p>
            <a:pPr marL="342900" indent="-342900">
              <a:lnSpc>
                <a:spcPct val="115000"/>
              </a:lnSpc>
              <a:spcAft>
                <a:spcPts val="800"/>
              </a:spcAft>
              <a:buSzPct val="100000"/>
              <a:buFont typeface="+mj-lt"/>
              <a:buAutoNum type="arabicPeriod" startAt="1"/>
            </a:pPr>
            <a:r>
              <a:rPr lang="en-US" sz="1400" dirty="0">
                <a:solidFill>
                  <a:srgbClr val="EDEDED"/>
                </a:solidFill>
                <a:latin typeface="Inter" pitchFamily="34" charset="0"/>
                <a:ea typeface="Inter" pitchFamily="34" charset="-122"/>
                <a:cs typeface="Inter" pitchFamily="34" charset="-120"/>
              </a:rPr>
              <a:t>quote_oft returns amount_received_ld. Use it as min_amount_ld.</a:t>
            </a:r>
            <a:endParaRPr lang="en-US" sz="1400" dirty="0"/>
          </a:p>
          <a:p>
            <a:pPr marL="342900" indent="-342900">
              <a:lnSpc>
                <a:spcPct val="115000"/>
              </a:lnSpc>
              <a:spcAft>
                <a:spcPts val="800"/>
              </a:spcAft>
              <a:buSzPct val="100000"/>
              <a:buFont typeface="+mj-lt"/>
              <a:buAutoNum type="arabicPeriod" startAt="1"/>
            </a:pPr>
            <a:r>
              <a:rPr lang="en-US" sz="1400" dirty="0">
                <a:solidFill>
                  <a:srgbClr val="EDEDED"/>
                </a:solidFill>
                <a:latin typeface="Inter" pitchFamily="34" charset="0"/>
                <a:ea typeface="Inter" pitchFamily="34" charset="-122"/>
                <a:cs typeface="Inter" pitchFamily="34" charset="-120"/>
              </a:rPr>
              <a:t>quote_send returns the native fee in XLM (plus an lz_token fee, unused by USDT0).</a:t>
            </a:r>
            <a:endParaRPr lang="en-US" sz="1400" dirty="0"/>
          </a:p>
          <a:p>
            <a:pPr marL="342900" indent="-342900">
              <a:lnSpc>
                <a:spcPct val="115000"/>
              </a:lnSpc>
              <a:spcAft>
                <a:spcPts val="800"/>
              </a:spcAft>
              <a:buSzPct val="100000"/>
              <a:buFont typeface="+mj-lt"/>
              <a:buAutoNum type="arabicPeriod" startAt="1"/>
            </a:pPr>
            <a:r>
              <a:rPr lang="en-US" sz="1400" dirty="0">
                <a:solidFill>
                  <a:srgbClr val="EDEDED"/>
                </a:solidFill>
                <a:latin typeface="Inter" pitchFamily="34" charset="0"/>
                <a:ea typeface="Inter" pitchFamily="34" charset="-122"/>
                <a:cs typeface="Inter" pitchFamily="34" charset="-120"/>
              </a:rPr>
              <a:t>send: the OFT burns your USDT0 through the SAC and the endpoint emits packet_sent with the GUID.</a:t>
            </a:r>
            <a:endParaRPr lang="en-US" sz="1400" dirty="0"/>
          </a:p>
          <a:p>
            <a:pPr marL="342900" indent="-342900">
              <a:lnSpc>
                <a:spcPct val="115000"/>
              </a:lnSpc>
              <a:spcAft>
                <a:spcPts val="800"/>
              </a:spcAft>
              <a:buSzPct val="100000"/>
              <a:buFont typeface="+mj-lt"/>
              <a:buAutoNum type="arabicPeriod" startAt="1"/>
            </a:pPr>
            <a:r>
              <a:rPr lang="en-US" sz="1400" dirty="0">
                <a:solidFill>
                  <a:srgbClr val="EDEDED"/>
                </a:solidFill>
                <a:latin typeface="Inter" pitchFamily="34" charset="0"/>
                <a:ea typeface="Inter" pitchFamily="34" charset="-122"/>
                <a:cs typeface="Inter" pitchFamily="34" charset="-120"/>
              </a:rPr>
              <a:t>Track the GUID on LayerZero Scan until it reads Delivered.</a:t>
            </a:r>
            <a:endParaRPr lang="en-US" sz="1400" dirty="0"/>
          </a:p>
        </p:txBody>
      </p:sp>
      <p:sp>
        <p:nvSpPr>
          <p:cNvPr id="6" name="Shape 3"/>
          <p:cNvSpPr/>
          <p:nvPr/>
        </p:nvSpPr>
        <p:spPr>
          <a:xfrm>
            <a:off x="7315200" y="1737360"/>
            <a:ext cx="4327855" cy="3566160"/>
          </a:xfrm>
          <a:prstGeom prst="roundRect">
            <a:avLst>
              <a:gd name="adj" fmla="val 3077"/>
            </a:avLst>
          </a:prstGeom>
          <a:solidFill>
            <a:srgbClr val="232323"/>
          </a:solidFill>
          <a:ln w="9525">
            <a:solidFill>
              <a:srgbClr val="FFB224"/>
            </a:solidFill>
            <a:prstDash val="solid"/>
          </a:ln>
        </p:spPr>
      </p:sp>
      <p:sp>
        <p:nvSpPr>
          <p:cNvPr id="7" name="Text 4"/>
          <p:cNvSpPr txBox="1"/>
          <p:nvPr/>
        </p:nvSpPr>
        <p:spPr>
          <a:xfrm>
            <a:off x="7516368" y="1920240"/>
            <a:ext cx="3925519" cy="320040"/>
          </a:xfrm>
          <a:prstGeom prst="rect">
            <a:avLst/>
          </a:prstGeom>
          <a:noFill/>
          <a:ln/>
        </p:spPr>
        <p:txBody>
          <a:bodyPr wrap="square" lIns="0" tIns="0" rIns="0" bIns="0" rtlCol="0" anchor="t"/>
          <a:lstStyle/>
          <a:p>
            <a:pPr indent="0" marL="0">
              <a:buNone/>
            </a:pPr>
            <a:r>
              <a:rPr lang="en-US" sz="1500" b="1" dirty="0">
                <a:solidFill>
                  <a:srgbClr val="FFB224"/>
                </a:solidFill>
                <a:latin typeface="Inter" pitchFamily="34" charset="0"/>
                <a:ea typeface="Inter" pitchFamily="34" charset="-122"/>
                <a:cs typeface="Inter" pitchFamily="34" charset="-120"/>
              </a:rPr>
              <a:t>Fund-critical details</a:t>
            </a:r>
            <a:endParaRPr lang="en-US" sz="1500" dirty="0"/>
          </a:p>
        </p:txBody>
      </p:sp>
      <p:sp>
        <p:nvSpPr>
          <p:cNvPr id="8" name="Text 5"/>
          <p:cNvSpPr txBox="1"/>
          <p:nvPr/>
        </p:nvSpPr>
        <p:spPr>
          <a:xfrm>
            <a:off x="7516368" y="2304288"/>
            <a:ext cx="3925519" cy="283464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EDEDED"/>
                </a:solidFill>
                <a:latin typeface="Inter" pitchFamily="34" charset="0"/>
                <a:ea typeface="Inter" pitchFamily="34" charset="-122"/>
                <a:cs typeface="Inter" pitchFamily="34" charset="-120"/>
              </a:rPr>
              <a:t>to is 32 raw bytes: the Ed25519 key of a G address or the id of a C address, never the strkey string.</a:t>
            </a:r>
            <a:endParaRPr lang="en-US" sz="1200" dirty="0"/>
          </a:p>
          <a:p>
            <a:pPr marL="152400" indent="-152400">
              <a:lnSpc>
                <a:spcPct val="110000"/>
              </a:lnSpc>
              <a:spcAft>
                <a:spcPts val="400"/>
              </a:spcAft>
              <a:buSzPct val="100000"/>
              <a:buChar char="•"/>
            </a:pPr>
            <a:r>
              <a:rPr lang="en-US" sz="1200" dirty="0">
                <a:solidFill>
                  <a:srgbClr val="EDEDED"/>
                </a:solidFill>
                <a:latin typeface="Inter" pitchFamily="34" charset="0"/>
                <a:ea typeface="Inter" pitchFamily="34" charset="-122"/>
                <a:cs typeface="Inter" pitchFamily="34" charset="-120"/>
              </a:rPr>
              <a:t>A G recipient on Stellar needs a USDT0 trustline before the message lands.</a:t>
            </a:r>
            <a:endParaRPr lang="en-US" sz="1200" dirty="0"/>
          </a:p>
          <a:p>
            <a:pPr marL="152400" indent="-152400">
              <a:lnSpc>
                <a:spcPct val="110000"/>
              </a:lnSpc>
              <a:spcAft>
                <a:spcPts val="400"/>
              </a:spcAft>
              <a:buSzPct val="100000"/>
              <a:buChar char="•"/>
            </a:pPr>
            <a:r>
              <a:rPr lang="en-US" sz="1200" dirty="0">
                <a:solidFill>
                  <a:srgbClr val="EDEDED"/>
                </a:solidFill>
                <a:latin typeface="Inter" pitchFamily="34" charset="0"/>
                <a:ea typeface="Inter" pitchFamily="34" charset="-122"/>
                <a:cs typeface="Inter" pitchFamily="34" charset="-120"/>
              </a:rPr>
              <a:t>The OFT combines enforced options for you. USDT0 enforces 80,000 gas for lzReceive on Ethereum.</a:t>
            </a:r>
            <a:endParaRPr lang="en-US" sz="1200" dirty="0"/>
          </a:p>
          <a:p>
            <a:pPr marL="152400" indent="-152400">
              <a:lnSpc>
                <a:spcPct val="110000"/>
              </a:lnSpc>
              <a:spcAft>
                <a:spcPts val="400"/>
              </a:spcAft>
              <a:buSzPct val="100000"/>
              <a:buChar char="•"/>
            </a:pPr>
            <a:r>
              <a:rPr lang="en-US" sz="1200" dirty="0">
                <a:solidFill>
                  <a:srgbClr val="EDEDED"/>
                </a:solidFill>
                <a:latin typeface="Inter" pitchFamily="34" charset="0"/>
                <a:ea typeface="Inter" pitchFamily="34" charset="-122"/>
                <a:cs typeface="Inter" pitchFamily="34" charset="-120"/>
              </a:rPr>
              <a:t>Dust below 0.000001 never leaves your account.</a:t>
            </a:r>
            <a:endParaRPr lang="en-US" sz="1200" dirty="0"/>
          </a:p>
        </p:txBody>
      </p:sp>
      <p:sp>
        <p:nvSpPr>
          <p:cNvPr id="9" name="Text 6"/>
          <p:cNvSpPr txBox="1"/>
          <p:nvPr/>
        </p:nvSpPr>
        <p:spPr>
          <a:xfrm>
            <a:off x="548640" y="6172200"/>
            <a:ext cx="11094415" cy="320040"/>
          </a:xfrm>
          <a:prstGeom prst="rect">
            <a:avLst/>
          </a:prstGeom>
          <a:noFill/>
          <a:ln/>
        </p:spPr>
        <p:txBody>
          <a:bodyPr wrap="square" lIns="0" tIns="0" rIns="0" bIns="0" rtlCol="0" anchor="b"/>
          <a:lstStyle/>
          <a:p>
            <a:pPr indent="0" marL="0">
              <a:buNone/>
            </a:pPr>
            <a:r>
              <a:rPr lang="en-US" sz="1000" dirty="0">
                <a:solidFill>
                  <a:srgbClr val="A0A0A0"/>
                </a:solidFill>
                <a:latin typeface="Inter" pitchFamily="34" charset="0"/>
                <a:ea typeface="Inter" pitchFamily="34" charset="-122"/>
                <a:cs typeface="Inter" pitchFamily="34" charset="-120"/>
              </a:rPr>
              <a:t>Source: the OFT crate in the LayerZero monorepo. The Quotes and Playground pages show the exact XDR each step produces.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8"/>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6E56CF"/>
                </a:solidFill>
                <a:latin typeface="Inter" pitchFamily="34" charset="0"/>
                <a:ea typeface="Inter" pitchFamily="34" charset="-122"/>
                <a:cs typeface="Inter" pitchFamily="34" charset="-120"/>
              </a:rPr>
              <a:t>BUILDING</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171717"/>
                </a:solidFill>
                <a:latin typeface="Inter" pitchFamily="34" charset="0"/>
                <a:ea typeface="Inter" pitchFamily="34" charset="-122"/>
                <a:cs typeface="Inter" pitchFamily="34" charset="-120"/>
              </a:rPr>
              <a:t>Tracking a message, and finishing it yourself</a:t>
            </a:r>
            <a:endParaRPr lang="en-US" sz="3200" dirty="0"/>
          </a:p>
        </p:txBody>
      </p:sp>
      <p:sp>
        <p:nvSpPr>
          <p:cNvPr id="5" name="Shape 2"/>
          <p:cNvSpPr/>
          <p:nvPr/>
        </p:nvSpPr>
        <p:spPr>
          <a:xfrm>
            <a:off x="548640" y="1737360"/>
            <a:ext cx="2359152" cy="457200"/>
          </a:xfrm>
          <a:prstGeom prst="roundRect">
            <a:avLst>
              <a:gd name="adj" fmla="val 50000"/>
            </a:avLst>
          </a:prstGeom>
          <a:solidFill>
            <a:srgbClr val="F5F2FF"/>
          </a:solidFill>
          <a:ln w="12700">
            <a:solidFill>
              <a:srgbClr val="F5F2FF"/>
            </a:solidFill>
            <a:prstDash val="solid"/>
          </a:ln>
        </p:spPr>
      </p:sp>
      <p:sp>
        <p:nvSpPr>
          <p:cNvPr id="6" name="Text 3"/>
          <p:cNvSpPr txBox="1"/>
          <p:nvPr/>
        </p:nvSpPr>
        <p:spPr>
          <a:xfrm>
            <a:off x="548640" y="1737360"/>
            <a:ext cx="2359152" cy="457200"/>
          </a:xfrm>
          <a:prstGeom prst="rect">
            <a:avLst/>
          </a:prstGeom>
          <a:noFill/>
          <a:ln/>
        </p:spPr>
        <p:txBody>
          <a:bodyPr wrap="square" lIns="0" tIns="0" rIns="0" bIns="0" rtlCol="0" anchor="ctr"/>
          <a:lstStyle/>
          <a:p>
            <a:pPr algn="ctr" indent="0" marL="0">
              <a:buNone/>
            </a:pPr>
            <a:r>
              <a:rPr lang="en-US" sz="1300" b="1" dirty="0">
                <a:solidFill>
                  <a:srgbClr val="171717"/>
                </a:solidFill>
                <a:latin typeface="Inter" pitchFamily="34" charset="0"/>
                <a:ea typeface="Inter" pitchFamily="34" charset="-122"/>
                <a:cs typeface="Inter" pitchFamily="34" charset="-120"/>
              </a:rPr>
              <a:t>Source tx</a:t>
            </a:r>
            <a:endParaRPr lang="en-US" sz="1300" dirty="0"/>
          </a:p>
        </p:txBody>
      </p:sp>
      <p:sp>
        <p:nvSpPr>
          <p:cNvPr id="7" name="Shape 4"/>
          <p:cNvSpPr/>
          <p:nvPr/>
        </p:nvSpPr>
        <p:spPr>
          <a:xfrm>
            <a:off x="3044952" y="1874520"/>
            <a:ext cx="411480" cy="182880"/>
          </a:xfrm>
          <a:prstGeom prst="rightArrow">
            <a:avLst/>
          </a:prstGeom>
          <a:solidFill>
            <a:srgbClr val="6E56CF"/>
          </a:solidFill>
          <a:ln w="12700">
            <a:solidFill>
              <a:srgbClr val="6E56CF"/>
            </a:solidFill>
            <a:prstDash val="solid"/>
          </a:ln>
        </p:spPr>
      </p:sp>
      <p:sp>
        <p:nvSpPr>
          <p:cNvPr id="8" name="Shape 5"/>
          <p:cNvSpPr/>
          <p:nvPr/>
        </p:nvSpPr>
        <p:spPr>
          <a:xfrm>
            <a:off x="3593592" y="1737360"/>
            <a:ext cx="3767328" cy="457200"/>
          </a:xfrm>
          <a:prstGeom prst="roundRect">
            <a:avLst>
              <a:gd name="adj" fmla="val 50000"/>
            </a:avLst>
          </a:prstGeom>
          <a:solidFill>
            <a:srgbClr val="F5F2FF"/>
          </a:solidFill>
          <a:ln w="12700">
            <a:solidFill>
              <a:srgbClr val="F5F2FF"/>
            </a:solidFill>
            <a:prstDash val="solid"/>
          </a:ln>
        </p:spPr>
      </p:sp>
      <p:sp>
        <p:nvSpPr>
          <p:cNvPr id="9" name="Text 6"/>
          <p:cNvSpPr txBox="1"/>
          <p:nvPr/>
        </p:nvSpPr>
        <p:spPr>
          <a:xfrm>
            <a:off x="3593592" y="1737360"/>
            <a:ext cx="3767328" cy="457200"/>
          </a:xfrm>
          <a:prstGeom prst="rect">
            <a:avLst/>
          </a:prstGeom>
          <a:noFill/>
          <a:ln/>
        </p:spPr>
        <p:txBody>
          <a:bodyPr wrap="square" lIns="0" tIns="0" rIns="0" bIns="0" rtlCol="0" anchor="ctr"/>
          <a:lstStyle/>
          <a:p>
            <a:pPr algn="ctr" indent="0" marL="0">
              <a:buNone/>
            </a:pPr>
            <a:r>
              <a:rPr lang="en-US" sz="1300" b="1" dirty="0">
                <a:solidFill>
                  <a:srgbClr val="171717"/>
                </a:solidFill>
                <a:latin typeface="Inter" pitchFamily="34" charset="0"/>
                <a:ea typeface="Inter" pitchFamily="34" charset="-122"/>
                <a:cs typeface="Inter" pitchFamily="34" charset="-120"/>
              </a:rPr>
              <a:t>DVN attestations</a:t>
            </a:r>
            <a:endParaRPr lang="en-US" sz="1300" dirty="0"/>
          </a:p>
        </p:txBody>
      </p:sp>
      <p:sp>
        <p:nvSpPr>
          <p:cNvPr id="10" name="Shape 7"/>
          <p:cNvSpPr/>
          <p:nvPr/>
        </p:nvSpPr>
        <p:spPr>
          <a:xfrm>
            <a:off x="7498080" y="1874520"/>
            <a:ext cx="411480" cy="182880"/>
          </a:xfrm>
          <a:prstGeom prst="rightArrow">
            <a:avLst/>
          </a:prstGeom>
          <a:solidFill>
            <a:srgbClr val="6E56CF"/>
          </a:solidFill>
          <a:ln w="12700">
            <a:solidFill>
              <a:srgbClr val="6E56CF"/>
            </a:solidFill>
            <a:prstDash val="solid"/>
          </a:ln>
        </p:spPr>
      </p:sp>
      <p:sp>
        <p:nvSpPr>
          <p:cNvPr id="11" name="Shape 8"/>
          <p:cNvSpPr/>
          <p:nvPr/>
        </p:nvSpPr>
        <p:spPr>
          <a:xfrm>
            <a:off x="8046720" y="1737360"/>
            <a:ext cx="1755648" cy="457200"/>
          </a:xfrm>
          <a:prstGeom prst="roundRect">
            <a:avLst>
              <a:gd name="adj" fmla="val 50000"/>
            </a:avLst>
          </a:prstGeom>
          <a:solidFill>
            <a:srgbClr val="F5F2FF"/>
          </a:solidFill>
          <a:ln w="12700">
            <a:solidFill>
              <a:srgbClr val="F5F2FF"/>
            </a:solidFill>
            <a:prstDash val="solid"/>
          </a:ln>
        </p:spPr>
      </p:sp>
      <p:sp>
        <p:nvSpPr>
          <p:cNvPr id="12" name="Text 9"/>
          <p:cNvSpPr txBox="1"/>
          <p:nvPr/>
        </p:nvSpPr>
        <p:spPr>
          <a:xfrm>
            <a:off x="8046720" y="1737360"/>
            <a:ext cx="1755648" cy="457200"/>
          </a:xfrm>
          <a:prstGeom prst="rect">
            <a:avLst/>
          </a:prstGeom>
          <a:noFill/>
          <a:ln/>
        </p:spPr>
        <p:txBody>
          <a:bodyPr wrap="square" lIns="0" tIns="0" rIns="0" bIns="0" rtlCol="0" anchor="ctr"/>
          <a:lstStyle/>
          <a:p>
            <a:pPr algn="ctr" indent="0" marL="0">
              <a:buNone/>
            </a:pPr>
            <a:r>
              <a:rPr lang="en-US" sz="1300" b="1" dirty="0">
                <a:solidFill>
                  <a:srgbClr val="171717"/>
                </a:solidFill>
                <a:latin typeface="Inter" pitchFamily="34" charset="0"/>
                <a:ea typeface="Inter" pitchFamily="34" charset="-122"/>
                <a:cs typeface="Inter" pitchFamily="34" charset="-120"/>
              </a:rPr>
              <a:t>Commit</a:t>
            </a:r>
            <a:endParaRPr lang="en-US" sz="1300" dirty="0"/>
          </a:p>
        </p:txBody>
      </p:sp>
      <p:sp>
        <p:nvSpPr>
          <p:cNvPr id="13" name="Shape 10"/>
          <p:cNvSpPr/>
          <p:nvPr/>
        </p:nvSpPr>
        <p:spPr>
          <a:xfrm>
            <a:off x="9939528" y="1874520"/>
            <a:ext cx="411480" cy="182880"/>
          </a:xfrm>
          <a:prstGeom prst="rightArrow">
            <a:avLst/>
          </a:prstGeom>
          <a:solidFill>
            <a:srgbClr val="6E56CF"/>
          </a:solidFill>
          <a:ln w="12700">
            <a:solidFill>
              <a:srgbClr val="6E56CF"/>
            </a:solidFill>
            <a:prstDash val="solid"/>
          </a:ln>
        </p:spPr>
      </p:sp>
      <p:sp>
        <p:nvSpPr>
          <p:cNvPr id="14" name="Shape 11"/>
          <p:cNvSpPr/>
          <p:nvPr/>
        </p:nvSpPr>
        <p:spPr>
          <a:xfrm>
            <a:off x="10488168" y="1737360"/>
            <a:ext cx="2359152" cy="457200"/>
          </a:xfrm>
          <a:prstGeom prst="roundRect">
            <a:avLst>
              <a:gd name="adj" fmla="val 50000"/>
            </a:avLst>
          </a:prstGeom>
          <a:solidFill>
            <a:srgbClr val="6E56CF"/>
          </a:solidFill>
          <a:ln w="12700">
            <a:solidFill>
              <a:srgbClr val="6E56CF"/>
            </a:solidFill>
            <a:prstDash val="solid"/>
          </a:ln>
        </p:spPr>
      </p:sp>
      <p:sp>
        <p:nvSpPr>
          <p:cNvPr id="15" name="Text 12"/>
          <p:cNvSpPr txBox="1"/>
          <p:nvPr/>
        </p:nvSpPr>
        <p:spPr>
          <a:xfrm>
            <a:off x="10488168" y="1737360"/>
            <a:ext cx="2359152" cy="457200"/>
          </a:xfrm>
          <a:prstGeom prst="rect">
            <a:avLst/>
          </a:prstGeom>
          <a:noFill/>
          <a:ln/>
        </p:spPr>
        <p:txBody>
          <a:bodyPr wrap="square" lIns="0" tIns="0" rIns="0" bIns="0" rtlCol="0" anchor="ctr"/>
          <a:lstStyle/>
          <a:p>
            <a:pPr algn="ctr" indent="0" marL="0">
              <a:buNone/>
            </a:pPr>
            <a:r>
              <a:rPr lang="en-US" sz="1300" b="1" dirty="0">
                <a:solidFill>
                  <a:srgbClr val="F1EEFE"/>
                </a:solidFill>
                <a:latin typeface="Inter" pitchFamily="34" charset="0"/>
                <a:ea typeface="Inter" pitchFamily="34" charset="-122"/>
                <a:cs typeface="Inter" pitchFamily="34" charset="-120"/>
              </a:rPr>
              <a:t>Delivered</a:t>
            </a:r>
            <a:endParaRPr lang="en-US" sz="1300" dirty="0"/>
          </a:p>
        </p:txBody>
      </p:sp>
      <p:sp>
        <p:nvSpPr>
          <p:cNvPr id="16" name="Shape 13"/>
          <p:cNvSpPr/>
          <p:nvPr/>
        </p:nvSpPr>
        <p:spPr>
          <a:xfrm>
            <a:off x="548640" y="2514600"/>
            <a:ext cx="5432908" cy="2743200"/>
          </a:xfrm>
          <a:prstGeom prst="roundRect">
            <a:avLst>
              <a:gd name="adj" fmla="val 4000"/>
            </a:avLst>
          </a:prstGeom>
          <a:solidFill>
            <a:srgbClr val="FCFCFC"/>
          </a:solidFill>
          <a:ln w="9525">
            <a:solidFill>
              <a:srgbClr val="E2E2E2"/>
            </a:solidFill>
            <a:prstDash val="solid"/>
          </a:ln>
        </p:spPr>
      </p:sp>
      <p:sp>
        <p:nvSpPr>
          <p:cNvPr id="17" name="Text 14"/>
          <p:cNvSpPr txBox="1"/>
          <p:nvPr/>
        </p:nvSpPr>
        <p:spPr>
          <a:xfrm>
            <a:off x="749808" y="2697480"/>
            <a:ext cx="5030572"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LayerZero Scan API, no key</a:t>
            </a:r>
            <a:endParaRPr lang="en-US" sz="1500" dirty="0"/>
          </a:p>
        </p:txBody>
      </p:sp>
      <p:sp>
        <p:nvSpPr>
          <p:cNvPr id="18" name="Text 15"/>
          <p:cNvSpPr txBox="1"/>
          <p:nvPr/>
        </p:nvSpPr>
        <p:spPr>
          <a:xfrm>
            <a:off x="749808" y="3081528"/>
            <a:ext cx="5030572" cy="201168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/v1/messages/tx/{hash}</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/v1/messages/guid/{guid}</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/v1/messages/latest?srcChainIds=30600</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Stellar testnet messages appear under the GUID first; the source tx link can lag by minutes. Read the GUID from the packet_sent event via RPC.</a:t>
            </a:r>
            <a:endParaRPr lang="en-US" sz="1200" dirty="0"/>
          </a:p>
        </p:txBody>
      </p:sp>
      <p:sp>
        <p:nvSpPr>
          <p:cNvPr id="19" name="Shape 16"/>
          <p:cNvSpPr/>
          <p:nvPr/>
        </p:nvSpPr>
        <p:spPr>
          <a:xfrm>
            <a:off x="6210148" y="2514600"/>
            <a:ext cx="5432908" cy="2743200"/>
          </a:xfrm>
          <a:prstGeom prst="roundRect">
            <a:avLst>
              <a:gd name="adj" fmla="val 4000"/>
            </a:avLst>
          </a:prstGeom>
          <a:solidFill>
            <a:srgbClr val="FCFCFC"/>
          </a:solidFill>
          <a:ln w="9525">
            <a:solidFill>
              <a:srgbClr val="E2E2E2"/>
            </a:solidFill>
            <a:prstDash val="solid"/>
          </a:ln>
        </p:spPr>
      </p:sp>
      <p:sp>
        <p:nvSpPr>
          <p:cNvPr id="20" name="Text 17"/>
          <p:cNvSpPr txBox="1"/>
          <p:nvPr/>
        </p:nvSpPr>
        <p:spPr>
          <a:xfrm>
            <a:off x="6411316" y="2697480"/>
            <a:ext cx="5030572" cy="320040"/>
          </a:xfrm>
          <a:prstGeom prst="rect">
            <a:avLst/>
          </a:prstGeom>
          <a:noFill/>
          <a:ln/>
        </p:spPr>
        <p:txBody>
          <a:bodyPr wrap="square" lIns="0" tIns="0" rIns="0" bIns="0" rtlCol="0" anchor="t"/>
          <a:lstStyle/>
          <a:p>
            <a:pPr indent="0" marL="0">
              <a:buNone/>
            </a:pPr>
            <a:r>
              <a:rPr lang="en-US" sz="1500" b="1" dirty="0">
                <a:solidFill>
                  <a:srgbClr val="171717"/>
                </a:solidFill>
                <a:latin typeface="Inter" pitchFamily="34" charset="0"/>
                <a:ea typeface="Inter" pitchFamily="34" charset="-122"/>
                <a:cs typeface="Inter" pitchFamily="34" charset="-120"/>
              </a:rPr>
              <a:t>Delivery is permissionless</a:t>
            </a:r>
            <a:endParaRPr lang="en-US" sz="1500" dirty="0"/>
          </a:p>
        </p:txBody>
      </p:sp>
      <p:sp>
        <p:nvSpPr>
          <p:cNvPr id="21" name="Text 18"/>
          <p:cNvSpPr txBox="1"/>
          <p:nvPr/>
        </p:nvSpPr>
        <p:spPr>
          <a:xfrm>
            <a:off x="6411316" y="3081528"/>
            <a:ext cx="5030572" cy="201168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Once the required DVNs have attested, anyone can finish the message.</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EVM: ReceiveUln302.commitVerification, then EndpointV2.lzReceive</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Stellar: ULN302.commit_verification, then the OApp's lz_receive with you as the executor</a:t>
            </a:r>
            <a:endParaRPr lang="en-US" sz="1200" dirty="0"/>
          </a:p>
          <a:p>
            <a:pPr marL="152400" indent="-152400">
              <a:lnSpc>
                <a:spcPct val="110000"/>
              </a:lnSpc>
              <a:spcAft>
                <a:spcPts val="400"/>
              </a:spcAft>
              <a:buSzPct val="100000"/>
              <a:buChar char="•"/>
            </a:pPr>
            <a:r>
              <a:rPr lang="en-US" sz="1200" dirty="0">
                <a:solidFill>
                  <a:srgbClr val="6F6F6F"/>
                </a:solidFill>
                <a:latin typeface="Inter" pitchFamily="34" charset="0"/>
                <a:ea typeface="Inter" pitchFamily="34" charset="-122"/>
                <a:cs typeface="Inter" pitchFamily="34" charset="-120"/>
              </a:rPr>
              <a:t>The Tracker page has a button for it; execute-sepolia.ts and execute-stellar.ts do the same from the CLI.</a:t>
            </a:r>
            <a:endParaRPr lang="en-US" sz="1200" dirty="0"/>
          </a:p>
        </p:txBody>
      </p:sp>
      <p:sp>
        <p:nvSpPr>
          <p:cNvPr id="22" name="Text 19"/>
          <p:cNvSpPr txBox="1"/>
          <p:nvPr/>
        </p:nvSpPr>
        <p:spPr>
          <a:xfrm>
            <a:off x="548640" y="6172200"/>
            <a:ext cx="11094415" cy="320040"/>
          </a:xfrm>
          <a:prstGeom prst="rect">
            <a:avLst/>
          </a:prstGeom>
          <a:noFill/>
          <a:ln/>
        </p:spPr>
        <p:txBody>
          <a:bodyPr wrap="square" lIns="0" tIns="0" rIns="0" bIns="0" rtlCol="0" anchor="b"/>
          <a:lstStyle/>
          <a:p>
            <a:pPr indent="0" marL="0">
              <a:buNone/>
            </a:pPr>
            <a:r>
              <a:rPr lang="en-US" sz="1000" dirty="0">
                <a:solidFill>
                  <a:srgbClr val="6F6F6F"/>
                </a:solidFill>
                <a:latin typeface="Inter" pitchFamily="34" charset="0"/>
                <a:ea typeface="Inter" pitchFamily="34" charset="-122"/>
                <a:cs typeface="Inter" pitchFamily="34" charset="-120"/>
              </a:rPr>
              <a:t>The first tUSDT0 transfer in the repo was delivered this way. The testnet executor took 8 to 90 minutes on recent messages.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16"/>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9E8CFC"/>
                </a:solidFill>
                <a:latin typeface="Inter" pitchFamily="34" charset="0"/>
                <a:ea typeface="Inter" pitchFamily="34" charset="-122"/>
                <a:cs typeface="Inter" pitchFamily="34" charset="-120"/>
              </a:rPr>
              <a:t>CONTEXT</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EDEDED"/>
                </a:solidFill>
                <a:latin typeface="Inter" pitchFamily="34" charset="0"/>
                <a:ea typeface="Inter" pitchFamily="34" charset="-122"/>
                <a:cs typeface="Inter" pitchFamily="34" charset="-120"/>
              </a:rPr>
              <a:t>Two stablecoins on Stellar, two bridge models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194560"/>
                <a:gridCol w="4449928"/>
                <a:gridCol w="4449928"/>
              </a:tblGrid>
              <a:tr h="0">
                <a:tc>
                  <a:txBody>
                    <a:bodyPr/>
                    <a:lstStyle/>
                    <a:p>
                      <a:pPr indent="0" marL="0">
                        <a:buNone/>
                      </a:pP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b="1" dirty="0">
                          <a:solidFill>
                            <a:srgbClr val="EDEDED"/>
                          </a:solidFill>
                          <a:latin typeface="Inter" pitchFamily="34" charset="0"/>
                          <a:ea typeface="Inter" pitchFamily="34" charset="-122"/>
                          <a:cs typeface="Inter" pitchFamily="34" charset="-120"/>
                        </a:rPr>
                        <a:t>USDC via CCTP</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b="1" dirty="0">
                          <a:solidFill>
                            <a:srgbClr val="EDEDED"/>
                          </a:solidFill>
                          <a:latin typeface="Inter" pitchFamily="34" charset="0"/>
                          <a:ea typeface="Inter" pitchFamily="34" charset="-122"/>
                          <a:cs typeface="Inter" pitchFamily="34" charset="-120"/>
                        </a:rPr>
                        <a:t>USDT0 via LayerZero OFT</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Circle's Cross-Chain Transfer Protocol</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LayerZero V2 Omnichain Fungible Token</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Who verifies</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Circle's attestation service</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The DVN set each app configures. USDT0 requires 3 of the 7 registered on Stellar</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Token model</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Native USDC on every chain: burn on the source, mint on the destination</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Canonical USDT locked in an Ethereum adapter; USDT0 minted on every other chain</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Who operates</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Circle</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Everdawn Labs (USDT0); LayerZero Labs and other DVN operators</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1C1C1C"/>
                    </a:solidFill>
                  </a:tcPr>
                </a:tc>
              </a:tr>
              <a:tr h="0">
                <a:tc>
                  <a:txBody>
                    <a:bodyPr/>
                    <a:lstStyle/>
                    <a:p>
                      <a:pPr indent="0" marL="0">
                        <a:buNone/>
                      </a:pPr>
                      <a:r>
                        <a:rPr lang="en-US" sz="1200" dirty="0">
                          <a:solidFill>
                            <a:srgbClr val="EDEDED"/>
                          </a:solidFill>
                          <a:latin typeface="Inter" pitchFamily="34" charset="0"/>
                          <a:ea typeface="Inter" pitchFamily="34" charset="-122"/>
                          <a:cs typeface="Inter" pitchFamily="34" charset="-120"/>
                        </a:rPr>
                        <a:t>Demo to fork</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ElliotFriend/stellar-cctp-demo</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c>
                  <a:txBody>
                    <a:bodyPr/>
                    <a:lstStyle/>
                    <a:p>
                      <a:pPr indent="0" marL="0">
                        <a:buNone/>
                      </a:pPr>
                      <a:r>
                        <a:rPr lang="en-US" sz="1200" dirty="0">
                          <a:solidFill>
                            <a:srgbClr val="EDEDED"/>
                          </a:solidFill>
                          <a:latin typeface="Inter" pitchFamily="34" charset="0"/>
                          <a:ea typeface="Inter" pitchFamily="34" charset="-122"/>
                          <a:cs typeface="Inter" pitchFamily="34" charset="-120"/>
                        </a:rPr>
                        <a:t>kaankacar/stellar-layerzero-demos</a:t>
                      </a:r>
                      <a:endParaRPr lang="en-US" sz="1200" dirty="0">
                        <a:latin typeface="Inter" charset="0"/>
                        <a:ea typeface="Inter" charset="0"/>
                        <a:cs typeface="Inter" charset="0"/>
                      </a:endParaRPr>
                    </a:p>
                  </a:txBody>
                  <a:tcPr marL="76200" marR="76200" marT="50800" marB="50800" anchor="ctr">
                    <a:lnL w="6350" cap="flat" cmpd="sng" algn="ctr">
                      <a:solidFill>
                        <a:srgbClr val="343434"/>
                      </a:solidFill>
                      <a:prstDash val="solid"/>
                      <a:round/>
                      <a:headEnd type="none" w="med" len="med"/>
                      <a:tailEnd type="none" w="med" len="med"/>
                    </a:lnL>
                    <a:lnR w="6350" cap="flat" cmpd="sng" algn="ctr">
                      <a:solidFill>
                        <a:srgbClr val="343434"/>
                      </a:solidFill>
                      <a:prstDash val="solid"/>
                      <a:round/>
                      <a:headEnd type="none" w="med" len="med"/>
                      <a:tailEnd type="none" w="med" len="med"/>
                    </a:lnR>
                    <a:lnT w="6350" cap="flat" cmpd="sng" algn="ctr">
                      <a:solidFill>
                        <a:srgbClr val="343434"/>
                      </a:solidFill>
                      <a:prstDash val="solid"/>
                      <a:round/>
                      <a:headEnd type="none" w="med" len="med"/>
                      <a:tailEnd type="none" w="med" len="med"/>
                    </a:lnT>
                    <a:lnB w="6350" cap="flat" cmpd="sng" algn="ctr">
                      <a:solidFill>
                        <a:srgbClr val="343434"/>
                      </a:solidFill>
                      <a:prstDash val="solid"/>
                      <a:round/>
                      <a:headEnd type="none" w="med" len="med"/>
                      <a:tailEnd type="none" w="med" len="med"/>
                    </a:lnB>
                    <a:solidFill>
                      <a:srgbClr val="232323"/>
                    </a:solidFill>
                  </a:tcPr>
                </a:tc>
              </a:tr>
            </a:tbl>
          </a:graphicData>
        </a:graphic>
      </p:graphicFrame>
      <p:sp>
        <p:nvSpPr>
          <p:cNvPr id="6" name="Text 2"/>
          <p:cNvSpPr txBox="1"/>
          <p:nvPr/>
        </p:nvSpPr>
        <p:spPr>
          <a:xfrm>
            <a:off x="548640" y="6172200"/>
            <a:ext cx="11094415" cy="320040"/>
          </a:xfrm>
          <a:prstGeom prst="rect">
            <a:avLst/>
          </a:prstGeom>
          <a:noFill/>
          <a:ln/>
        </p:spPr>
        <p:txBody>
          <a:bodyPr wrap="square" lIns="0" tIns="0" rIns="0" bIns="0" rtlCol="0" anchor="b"/>
          <a:lstStyle/>
          <a:p>
            <a:pPr indent="0" marL="0">
              <a:buNone/>
            </a:pPr>
            <a:r>
              <a:rPr lang="en-US" sz="1000" dirty="0">
                <a:solidFill>
                  <a:srgbClr val="A0A0A0"/>
                </a:solidFill>
                <a:latin typeface="Inter" pitchFamily="34" charset="0"/>
                <a:ea typeface="Inter" pitchFamily="34" charset="-122"/>
                <a:cs typeface="Inter" pitchFamily="34" charset="-120"/>
              </a:rPr>
              <a:t>Both have a page in the Stellar docs Tokens section. Many apps will end up holding both.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8"/>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6E56CF"/>
                </a:solidFill>
                <a:latin typeface="Inter" pitchFamily="34" charset="0"/>
                <a:ea typeface="Inter" pitchFamily="34" charset="-122"/>
                <a:cs typeface="Inter" pitchFamily="34" charset="-120"/>
              </a:rPr>
              <a:t>THE DEMO SITE</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171717"/>
                </a:solidFill>
                <a:latin typeface="Inter" pitchFamily="34" charset="0"/>
                <a:ea typeface="Inter" pitchFamily="34" charset="-122"/>
                <a:cs typeface="Inter" pitchFamily="34" charset="-120"/>
              </a:rPr>
              <a:t>Nine demos, two modes, one static site</a:t>
            </a:r>
            <a:endParaRPr lang="en-US" sz="3200" dirty="0"/>
          </a:p>
        </p:txBody>
      </p:sp>
      <p:pic>
        <p:nvPicPr>
          <p:cNvPr id="5" name="Image 0" descr="home.jpg">    </p:cNvPr>
          <p:cNvPicPr>
            <a:picLocks noChangeAspect="1"/>
          </p:cNvPicPr>
          <p:nvPr/>
        </p:nvPicPr>
        <p:blipFill>
          <a:blip r:embed="rId1"/>
          <a:srcRect l="0" r="0" t="0" b="0"/>
          <a:stretch/>
        </p:blipFill>
        <p:spPr>
          <a:xfrm>
            <a:off x="548640" y="1691640"/>
            <a:ext cx="6583680" cy="3703320"/>
          </a:xfrm>
          <a:prstGeom prst="rect">
            <a:avLst/>
          </a:prstGeom>
        </p:spPr>
      </p:pic>
      <p:sp>
        <p:nvSpPr>
          <p:cNvPr id="6" name="Shape 2"/>
          <p:cNvSpPr/>
          <p:nvPr/>
        </p:nvSpPr>
        <p:spPr>
          <a:xfrm>
            <a:off x="7406640" y="1691640"/>
            <a:ext cx="4236415" cy="1417320"/>
          </a:xfrm>
          <a:prstGeom prst="roundRect">
            <a:avLst>
              <a:gd name="adj" fmla="val 7742"/>
            </a:avLst>
          </a:prstGeom>
          <a:solidFill>
            <a:srgbClr val="FCFCFC"/>
          </a:solidFill>
          <a:ln w="9525">
            <a:solidFill>
              <a:srgbClr val="E2E2E2"/>
            </a:solidFill>
            <a:prstDash val="solid"/>
          </a:ln>
        </p:spPr>
      </p:sp>
      <p:sp>
        <p:nvSpPr>
          <p:cNvPr id="7" name="Text 3"/>
          <p:cNvSpPr txBox="1"/>
          <p:nvPr/>
        </p:nvSpPr>
        <p:spPr>
          <a:xfrm>
            <a:off x="7607808" y="1874520"/>
            <a:ext cx="3834079" cy="320040"/>
          </a:xfrm>
          <a:prstGeom prst="rect">
            <a:avLst/>
          </a:prstGeom>
          <a:noFill/>
          <a:ln/>
        </p:spPr>
        <p:txBody>
          <a:bodyPr wrap="square" lIns="0" tIns="0" rIns="0" bIns="0" rtlCol="0" anchor="t"/>
          <a:lstStyle/>
          <a:p>
            <a:pPr indent="0" marL="0">
              <a:buNone/>
            </a:pPr>
            <a:r>
              <a:rPr lang="en-US" sz="1500" b="1" dirty="0">
                <a:solidFill>
                  <a:srgbClr val="AD5700"/>
                </a:solidFill>
                <a:latin typeface="Inter" pitchFamily="34" charset="0"/>
                <a:ea typeface="Inter" pitchFamily="34" charset="-122"/>
                <a:cs typeface="Inter" pitchFamily="34" charset="-120"/>
              </a:rPr>
              <a:t>Mainnet · read-only</a:t>
            </a:r>
            <a:endParaRPr lang="en-US" sz="1500" dirty="0"/>
          </a:p>
        </p:txBody>
      </p:sp>
      <p:sp>
        <p:nvSpPr>
          <p:cNvPr id="8" name="Text 4"/>
          <p:cNvSpPr txBox="1"/>
          <p:nvPr/>
        </p:nvSpPr>
        <p:spPr>
          <a:xfrm>
            <a:off x="7607808" y="2258568"/>
            <a:ext cx="3834079" cy="685800"/>
          </a:xfrm>
          <a:prstGeom prst="rect">
            <a:avLst/>
          </a:prstGeom>
          <a:noFill/>
          <a:ln/>
        </p:spPr>
        <p:txBody>
          <a:bodyPr wrap="square" lIns="0" tIns="0" rIns="0" bIns="0" rtlCol="0" anchor="t"/>
          <a:lstStyle/>
          <a:p>
            <a:pPr indent="0" marL="0">
              <a:lnSpc>
                <a:spcPct val="112000"/>
              </a:lnSpc>
              <a:buNone/>
            </a:pPr>
            <a:r>
              <a:rPr lang="en-US" sz="1150" dirty="0">
                <a:solidFill>
                  <a:srgbClr val="6F6F6F"/>
                </a:solidFill>
                <a:latin typeface="Inter" pitchFamily="34" charset="0"/>
                <a:ea typeface="Inter" pitchFamily="34" charset="-122"/>
                <a:cs typeface="Inter" pitchFamily="34" charset="-120"/>
              </a:rPr>
              <a:t>Inspector, Tracker, Quotes, Dashboard. They read the real USDT0 through Horizon, RPC simulation, the registry and Scan. They never ask you to sign.</a:t>
            </a:r>
            <a:endParaRPr lang="en-US" sz="1150" dirty="0"/>
          </a:p>
        </p:txBody>
      </p:sp>
      <p:sp>
        <p:nvSpPr>
          <p:cNvPr id="9" name="Shape 5"/>
          <p:cNvSpPr/>
          <p:nvPr/>
        </p:nvSpPr>
        <p:spPr>
          <a:xfrm>
            <a:off x="7406640" y="3246120"/>
            <a:ext cx="4236415" cy="1600200"/>
          </a:xfrm>
          <a:prstGeom prst="roundRect">
            <a:avLst>
              <a:gd name="adj" fmla="val 6857"/>
            </a:avLst>
          </a:prstGeom>
          <a:solidFill>
            <a:srgbClr val="FCFCFC"/>
          </a:solidFill>
          <a:ln w="9525">
            <a:solidFill>
              <a:srgbClr val="E2E2E2"/>
            </a:solidFill>
            <a:prstDash val="solid"/>
          </a:ln>
        </p:spPr>
      </p:sp>
      <p:sp>
        <p:nvSpPr>
          <p:cNvPr id="10" name="Text 6"/>
          <p:cNvSpPr txBox="1"/>
          <p:nvPr/>
        </p:nvSpPr>
        <p:spPr>
          <a:xfrm>
            <a:off x="7607808" y="3429000"/>
            <a:ext cx="3834079" cy="320040"/>
          </a:xfrm>
          <a:prstGeom prst="rect">
            <a:avLst/>
          </a:prstGeom>
          <a:noFill/>
          <a:ln/>
        </p:spPr>
        <p:txBody>
          <a:bodyPr wrap="square" lIns="0" tIns="0" rIns="0" bIns="0" rtlCol="0" anchor="t"/>
          <a:lstStyle/>
          <a:p>
            <a:pPr indent="0" marL="0">
              <a:buNone/>
            </a:pPr>
            <a:r>
              <a:rPr lang="en-US" sz="1500" b="1" dirty="0">
                <a:solidFill>
                  <a:srgbClr val="18794E"/>
                </a:solidFill>
                <a:latin typeface="Inter" pitchFamily="34" charset="0"/>
                <a:ea typeface="Inter" pitchFamily="34" charset="-122"/>
                <a:cs typeface="Inter" pitchFamily="34" charset="-120"/>
              </a:rPr>
              <a:t>Testnet · interactive</a:t>
            </a:r>
            <a:endParaRPr lang="en-US" sz="1500" dirty="0"/>
          </a:p>
        </p:txBody>
      </p:sp>
      <p:sp>
        <p:nvSpPr>
          <p:cNvPr id="11" name="Text 7"/>
          <p:cNvSpPr txBox="1"/>
          <p:nvPr/>
        </p:nvSpPr>
        <p:spPr>
          <a:xfrm>
            <a:off x="7607808" y="3813048"/>
            <a:ext cx="3834079" cy="868680"/>
          </a:xfrm>
          <a:prstGeom prst="rect">
            <a:avLst/>
          </a:prstGeom>
          <a:noFill/>
          <a:ln/>
        </p:spPr>
        <p:txBody>
          <a:bodyPr wrap="square" lIns="0" tIns="0" rIns="0" bIns="0" rtlCol="0" anchor="t"/>
          <a:lstStyle/>
          <a:p>
            <a:pPr indent="0" marL="0">
              <a:lnSpc>
                <a:spcPct val="112000"/>
              </a:lnSpc>
              <a:buNone/>
            </a:pPr>
            <a:r>
              <a:rPr lang="en-US" sz="1150" dirty="0">
                <a:solidFill>
                  <a:srgbClr val="6F6F6F"/>
                </a:solidFill>
                <a:latin typeface="Inter" pitchFamily="34" charset="0"/>
                <a:ea typeface="Inter" pitchFamily="34" charset="-122"/>
                <a:cs typeface="Inter" pitchFamily="34" charset="-120"/>
              </a:rPr>
              <a:t>Playground (mock tUSDT0), Postcards (raw messages), Launchpad (your own OFT), Compose (a Soroban vault driven only from MetaMask). Freighter and MetaMask sign through the live endpoint; the EVM side is Arbitrum Sepolia.</a:t>
            </a:r>
            <a:endParaRPr lang="en-US" sz="1150" dirty="0"/>
          </a:p>
        </p:txBody>
      </p:sp>
      <p:sp>
        <p:nvSpPr>
          <p:cNvPr id="12" name="Text 8"/>
          <p:cNvSpPr txBox="1"/>
          <p:nvPr/>
        </p:nvSpPr>
        <p:spPr>
          <a:xfrm>
            <a:off x="7406640" y="4983480"/>
            <a:ext cx="4236415" cy="548640"/>
          </a:xfrm>
          <a:prstGeom prst="rect">
            <a:avLst/>
          </a:prstGeom>
          <a:noFill/>
          <a:ln/>
        </p:spPr>
        <p:txBody>
          <a:bodyPr wrap="square" lIns="0" tIns="0" rIns="0" bIns="0" rtlCol="0" anchor="t"/>
          <a:lstStyle/>
          <a:p>
            <a:pPr indent="0" marL="0">
              <a:lnSpc>
                <a:spcPct val="115000"/>
              </a:lnSpc>
              <a:buNone/>
            </a:pPr>
            <a:r>
              <a:rPr lang="en-US" sz="1150" dirty="0">
                <a:solidFill>
                  <a:srgbClr val="6F6F6F"/>
                </a:solidFill>
                <a:latin typeface="Inter" pitchFamily="34" charset="0"/>
                <a:ea typeface="Inter" pitchFamily="34" charset="-122"/>
                <a:cs typeface="Inter" pitchFamily="34" charset="-120"/>
              </a:rPr>
              <a:t>Every page has the same shape: what is happening, the demo, and the real code it just ran, extracted from the repo at build time.</a:t>
            </a:r>
            <a:endParaRPr lang="en-US" sz="1150" dirty="0"/>
          </a:p>
        </p:txBody>
      </p:sp>
      <p:sp>
        <p:nvSpPr>
          <p:cNvPr id="13" name="Text 9"/>
          <p:cNvSpPr txBox="1"/>
          <p:nvPr/>
        </p:nvSpPr>
        <p:spPr>
          <a:xfrm>
            <a:off x="548640" y="6172200"/>
            <a:ext cx="11094415" cy="320040"/>
          </a:xfrm>
          <a:prstGeom prst="rect">
            <a:avLst/>
          </a:prstGeom>
          <a:noFill/>
          <a:ln/>
        </p:spPr>
        <p:txBody>
          <a:bodyPr wrap="square" lIns="0" tIns="0" rIns="0" bIns="0" rtlCol="0" anchor="b"/>
          <a:lstStyle/>
          <a:p>
            <a:pPr indent="0" marL="0">
              <a:buNone/>
            </a:pPr>
            <a:r>
              <a:rPr lang="en-US" sz="1000" dirty="0">
                <a:solidFill>
                  <a:srgbClr val="6F6F6F"/>
                </a:solidFill>
                <a:latin typeface="Inter" pitchFamily="34" charset="0"/>
                <a:ea typeface="Inter" pitchFamily="34" charset="-122"/>
                <a:cs typeface="Inter" pitchFamily="34" charset="-120"/>
              </a:rPr>
              <a:t>kaankacar.github.io/stellar-layerzero-demos · no backend, no secrets in the bundle; every panel degrades to a bundled snapshot when an API is down.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616"/>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9E8CFC"/>
                </a:solidFill>
                <a:latin typeface="Inter" pitchFamily="34" charset="0"/>
                <a:ea typeface="Inter" pitchFamily="34" charset="-122"/>
                <a:cs typeface="Inter" pitchFamily="34" charset="-120"/>
              </a:rPr>
              <a:t>LIVE DEMO</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EDEDED"/>
                </a:solidFill>
                <a:latin typeface="Inter" pitchFamily="34" charset="0"/>
                <a:ea typeface="Inter" pitchFamily="34" charset="-122"/>
                <a:cs typeface="Inter" pitchFamily="34" charset="-120"/>
              </a:rPr>
              <a:t>Run order, about 18 minutes</a:t>
            </a:r>
            <a:endParaRPr lang="en-US" sz="3200" dirty="0"/>
          </a:p>
        </p:txBody>
      </p:sp>
      <p:sp>
        <p:nvSpPr>
          <p:cNvPr id="5" name="Shape 2"/>
          <p:cNvSpPr/>
          <p:nvPr/>
        </p:nvSpPr>
        <p:spPr>
          <a:xfrm>
            <a:off x="548640" y="1600200"/>
            <a:ext cx="3931920" cy="347472"/>
          </a:xfrm>
          <a:prstGeom prst="roundRect">
            <a:avLst>
              <a:gd name="adj" fmla="val 50000"/>
            </a:avLst>
          </a:prstGeom>
          <a:solidFill>
            <a:srgbClr val="341C00"/>
          </a:solidFill>
          <a:ln w="9525">
            <a:solidFill>
              <a:srgbClr val="FFB224"/>
            </a:solidFill>
            <a:prstDash val="solid"/>
          </a:ln>
        </p:spPr>
      </p:sp>
      <p:sp>
        <p:nvSpPr>
          <p:cNvPr id="6" name="Text 3"/>
          <p:cNvSpPr txBox="1"/>
          <p:nvPr/>
        </p:nvSpPr>
        <p:spPr>
          <a:xfrm>
            <a:off x="548640" y="1600200"/>
            <a:ext cx="3931920" cy="347472"/>
          </a:xfrm>
          <a:prstGeom prst="rect">
            <a:avLst/>
          </a:prstGeom>
          <a:noFill/>
          <a:ln/>
        </p:spPr>
        <p:txBody>
          <a:bodyPr wrap="square" lIns="0" tIns="0" rIns="0" bIns="0" rtlCol="0" anchor="ctr"/>
          <a:lstStyle/>
          <a:p>
            <a:pPr algn="ctr" indent="0" marL="0">
              <a:buNone/>
            </a:pPr>
            <a:r>
              <a:rPr lang="en-US" sz="1100" b="1" dirty="0">
                <a:solidFill>
                  <a:srgbClr val="FFB224"/>
                </a:solidFill>
                <a:latin typeface="Inter" pitchFamily="34" charset="0"/>
                <a:ea typeface="Inter" pitchFamily="34" charset="-122"/>
                <a:cs typeface="Inter" pitchFamily="34" charset="-120"/>
              </a:rPr>
              <a:t>Testnet demo: mock tUSDT0, no real funds</a:t>
            </a:r>
            <a:endParaRPr lang="en-US" sz="1100" dirty="0"/>
          </a:p>
        </p:txBody>
      </p:sp>
      <p:sp>
        <p:nvSpPr>
          <p:cNvPr id="7" name="Text 4"/>
          <p:cNvSpPr txBox="1"/>
          <p:nvPr/>
        </p:nvSpPr>
        <p:spPr>
          <a:xfrm>
            <a:off x="548640" y="2148840"/>
            <a:ext cx="6035040" cy="4023360"/>
          </a:xfrm>
          <a:prstGeom prst="rect">
            <a:avLst/>
          </a:prstGeom>
          <a:noFill/>
          <a:ln/>
        </p:spPr>
        <p:txBody>
          <a:bodyPr wrap="square" lIns="0" tIns="0" rIns="0" bIns="0" rtlCol="0" anchor="t"/>
          <a:lstStyle/>
          <a:p>
            <a:pPr marL="342900" indent="-342900">
              <a:lnSpc>
                <a:spcPct val="112000"/>
              </a:lnSpc>
              <a:spcAft>
                <a:spcPts val="600"/>
              </a:spcAft>
              <a:buSzPct val="100000"/>
              <a:buFont typeface="+mj-lt"/>
              <a:buAutoNum type="arabicPeriod" startAt="1"/>
            </a:pPr>
            <a:r>
              <a:rPr lang="en-US" sz="1250" dirty="0">
                <a:solidFill>
                  <a:srgbClr val="EDEDED"/>
                </a:solidFill>
                <a:latin typeface="Inter" pitchFamily="34" charset="0"/>
                <a:ea typeface="Inter" pitchFamily="34" charset="-122"/>
                <a:cs typeface="Inter" pitchFamily="34" charset="-120"/>
              </a:rPr>
              <a:t>Inspector, 3 min: live facts, the three-contract check, 21 wired peers, the required DVN set.</a:t>
            </a:r>
            <a:endParaRPr lang="en-US" sz="1250" dirty="0"/>
          </a:p>
          <a:p>
            <a:pPr marL="342900" indent="-342900">
              <a:lnSpc>
                <a:spcPct val="112000"/>
              </a:lnSpc>
              <a:spcAft>
                <a:spcPts val="600"/>
              </a:spcAft>
              <a:buSzPct val="100000"/>
              <a:buFont typeface="+mj-lt"/>
              <a:buAutoNum type="arabicPeriod" startAt="1"/>
            </a:pPr>
            <a:r>
              <a:rPr lang="en-US" sz="1250" dirty="0">
                <a:solidFill>
                  <a:srgbClr val="EDEDED"/>
                </a:solidFill>
                <a:latin typeface="Inter" pitchFamily="34" charset="0"/>
                <a:ea typeface="Inter" pitchFamily="34" charset="-122"/>
                <a:cs typeface="Inter" pitchFamily="34" charset="-120"/>
              </a:rPr>
              <a:t>Tracker, 2 min: pick a message delivered today and walk source, DVN attestations, commit, executed.</a:t>
            </a:r>
            <a:endParaRPr lang="en-US" sz="1250" dirty="0"/>
          </a:p>
          <a:p>
            <a:pPr marL="342900" indent="-342900">
              <a:lnSpc>
                <a:spcPct val="112000"/>
              </a:lnSpc>
              <a:spcAft>
                <a:spcPts val="600"/>
              </a:spcAft>
              <a:buSzPct val="100000"/>
              <a:buFont typeface="+mj-lt"/>
              <a:buAutoNum type="arabicPeriod" startAt="1"/>
            </a:pPr>
            <a:r>
              <a:rPr lang="en-US" sz="1250" dirty="0">
                <a:solidFill>
                  <a:srgbClr val="EDEDED"/>
                </a:solidFill>
                <a:latin typeface="Inter" pitchFamily="34" charset="0"/>
                <a:ea typeface="Inter" pitchFamily="34" charset="-122"/>
                <a:cs typeface="Inter" pitchFamily="34" charset="-120"/>
              </a:rPr>
              <a:t>Quotes, 2 min: quote_send to five destinations on-chain, the fee in XLM, the dust calculator.</a:t>
            </a:r>
            <a:endParaRPr lang="en-US" sz="1250" dirty="0"/>
          </a:p>
          <a:p>
            <a:pPr marL="342900" indent="-342900">
              <a:lnSpc>
                <a:spcPct val="112000"/>
              </a:lnSpc>
              <a:spcAft>
                <a:spcPts val="600"/>
              </a:spcAft>
              <a:buSzPct val="100000"/>
              <a:buFont typeface="+mj-lt"/>
              <a:buAutoNum type="arabicPeriod" startAt="1"/>
            </a:pPr>
            <a:r>
              <a:rPr lang="en-US" sz="1250" dirty="0">
                <a:solidFill>
                  <a:srgbClr val="EDEDED"/>
                </a:solidFill>
                <a:latin typeface="Inter" pitchFamily="34" charset="0"/>
                <a:ea typeface="Inter" pitchFamily="34" charset="-122"/>
                <a:cs typeface="Inter" pitchFamily="34" charset="-120"/>
              </a:rPr>
              <a:t>Playground, 4 min: faucet drip of tUSDT0, send Stellar to Arbitrum Sepolia with Freighter, track it. If the executor lags, deliver it ourselves.</a:t>
            </a:r>
            <a:endParaRPr lang="en-US" sz="1250" dirty="0"/>
          </a:p>
          <a:p>
            <a:pPr marL="342900" indent="-342900">
              <a:lnSpc>
                <a:spcPct val="112000"/>
              </a:lnSpc>
              <a:spcAft>
                <a:spcPts val="600"/>
              </a:spcAft>
              <a:buSzPct val="100000"/>
              <a:buFont typeface="+mj-lt"/>
              <a:buAutoNum type="arabicPeriod" startAt="1"/>
            </a:pPr>
            <a:r>
              <a:rPr lang="en-US" sz="1250" dirty="0">
                <a:solidFill>
                  <a:srgbClr val="EDEDED"/>
                </a:solidFill>
                <a:latin typeface="Inter" pitchFamily="34" charset="0"/>
                <a:ea typeface="Inter" pitchFamily="34" charset="-122"/>
                <a:cs typeface="Inter" pitchFamily="34" charset="-120"/>
              </a:rPr>
              <a:t>Compose, 4 min: MetaMask only. Deposit tUSDT0 into the Soroban vault with a compose message, watch lz_compose credit the EVM address, then withdraw with a MetaMask signature.</a:t>
            </a:r>
            <a:endParaRPr lang="en-US" sz="1250" dirty="0"/>
          </a:p>
          <a:p>
            <a:pPr marL="342900" indent="-342900">
              <a:lnSpc>
                <a:spcPct val="112000"/>
              </a:lnSpc>
              <a:spcAft>
                <a:spcPts val="600"/>
              </a:spcAft>
              <a:buSzPct val="100000"/>
              <a:buFont typeface="+mj-lt"/>
              <a:buAutoNum type="arabicPeriod" startAt="1"/>
            </a:pPr>
            <a:r>
              <a:rPr lang="en-US" sz="1250" dirty="0">
                <a:solidFill>
                  <a:srgbClr val="EDEDED"/>
                </a:solidFill>
                <a:latin typeface="Inter" pitchFamily="34" charset="0"/>
                <a:ea typeface="Inter" pitchFamily="34" charset="-122"/>
                <a:cs typeface="Inter" pitchFamily="34" charset="-120"/>
              </a:rPr>
              <a:t>Launchpad, 2 min: the twelve steps of a LockUnlock launch, pre-recorded or replayed by the e2e script.</a:t>
            </a:r>
            <a:endParaRPr lang="en-US" sz="1250" dirty="0"/>
          </a:p>
        </p:txBody>
      </p:sp>
      <p:pic>
        <p:nvPicPr>
          <p:cNvPr id="8" name="Image 0" descr="inspector.jpg">    </p:cNvPr>
          <p:cNvPicPr>
            <a:picLocks noChangeAspect="1"/>
          </p:cNvPicPr>
          <p:nvPr/>
        </p:nvPicPr>
        <p:blipFill>
          <a:blip r:embed="rId1"/>
          <a:srcRect l="0" r="0" t="0" b="0"/>
          <a:stretch/>
        </p:blipFill>
        <p:spPr>
          <a:xfrm>
            <a:off x="6858000" y="1600200"/>
            <a:ext cx="4785055" cy="2691594"/>
          </a:xfrm>
          <a:prstGeom prst="rect">
            <a:avLst/>
          </a:prstGeom>
        </p:spPr>
      </p:pic>
      <p:sp>
        <p:nvSpPr>
          <p:cNvPr id="9" name="Shape 5"/>
          <p:cNvSpPr/>
          <p:nvPr/>
        </p:nvSpPr>
        <p:spPr>
          <a:xfrm>
            <a:off x="6858000" y="4520394"/>
            <a:ext cx="4785055" cy="1600200"/>
          </a:xfrm>
          <a:prstGeom prst="roundRect">
            <a:avLst>
              <a:gd name="adj" fmla="val 6857"/>
            </a:avLst>
          </a:prstGeom>
          <a:solidFill>
            <a:srgbClr val="232323"/>
          </a:solidFill>
          <a:ln w="9525">
            <a:solidFill>
              <a:srgbClr val="FFB224"/>
            </a:solidFill>
            <a:prstDash val="solid"/>
          </a:ln>
        </p:spPr>
      </p:sp>
      <p:sp>
        <p:nvSpPr>
          <p:cNvPr id="10" name="Text 6"/>
          <p:cNvSpPr txBox="1"/>
          <p:nvPr/>
        </p:nvSpPr>
        <p:spPr>
          <a:xfrm>
            <a:off x="7059168" y="4703274"/>
            <a:ext cx="4382719" cy="320040"/>
          </a:xfrm>
          <a:prstGeom prst="rect">
            <a:avLst/>
          </a:prstGeom>
          <a:noFill/>
          <a:ln/>
        </p:spPr>
        <p:txBody>
          <a:bodyPr wrap="square" lIns="0" tIns="0" rIns="0" bIns="0" rtlCol="0" anchor="t"/>
          <a:lstStyle/>
          <a:p>
            <a:pPr indent="0" marL="0">
              <a:buNone/>
            </a:pPr>
            <a:r>
              <a:rPr lang="en-US" sz="1500" b="1" dirty="0">
                <a:solidFill>
                  <a:srgbClr val="FFB224"/>
                </a:solidFill>
                <a:latin typeface="Inter" pitchFamily="34" charset="0"/>
                <a:ea typeface="Inter" pitchFamily="34" charset="-122"/>
                <a:cs typeface="Inter" pitchFamily="34" charset="-120"/>
              </a:rPr>
              <a:t>Backups</a:t>
            </a:r>
            <a:endParaRPr lang="en-US" sz="1500" dirty="0"/>
          </a:p>
        </p:txBody>
      </p:sp>
      <p:sp>
        <p:nvSpPr>
          <p:cNvPr id="11" name="Text 7"/>
          <p:cNvSpPr txBox="1"/>
          <p:nvPr/>
        </p:nvSpPr>
        <p:spPr>
          <a:xfrm>
            <a:off x="7059168" y="5087322"/>
            <a:ext cx="4382719" cy="868680"/>
          </a:xfrm>
          <a:prstGeom prst="rect">
            <a:avLst/>
          </a:prstGeom>
          <a:noFill/>
          <a:ln/>
        </p:spPr>
        <p:txBody>
          <a:bodyPr wrap="square" lIns="0" tIns="0" rIns="0" bIns="0" rtlCol="0" anchor="t"/>
          <a:lstStyle/>
          <a:p>
            <a:pPr indent="0" marL="0">
              <a:lnSpc>
                <a:spcPct val="112000"/>
              </a:lnSpc>
              <a:buNone/>
            </a:pPr>
            <a:r>
              <a:rPr lang="en-US" sz="1150" dirty="0">
                <a:solidFill>
                  <a:srgbClr val="EDEDED"/>
                </a:solidFill>
                <a:latin typeface="Inter" pitchFamily="34" charset="0"/>
                <a:ea typeface="Inter" pitchFamily="34" charset="-122"/>
                <a:cs typeface="Inter" pitchFamily="34" charset="-120"/>
              </a:rPr>
              <a:t>e2e-testnet-send.ts and e2e-compose.ts sign the same flows with script keys. The EVM side moved to Arbitrum Sepolia on 29 September because the testnet DVN attests that pathway in seconds; Sepolia to Stellar testnet is still stuck.</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8"/>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6E56CF"/>
                </a:solidFill>
                <a:latin typeface="Inter" pitchFamily="34" charset="0"/>
                <a:ea typeface="Inter" pitchFamily="34" charset="-122"/>
                <a:cs typeface="Inter" pitchFamily="34" charset="-120"/>
              </a:rPr>
              <a:t>PITFALLS</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171717"/>
                </a:solidFill>
                <a:latin typeface="Inter" pitchFamily="34" charset="0"/>
                <a:ea typeface="Inter" pitchFamily="34" charset="-122"/>
                <a:cs typeface="Inter" pitchFamily="34" charset="-120"/>
              </a:rPr>
              <a:t>Six things that bit us on testnet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328325"/>
                <a:gridCol w="3772101"/>
                <a:gridCol w="3993989"/>
              </a:tblGrid>
              <a:tr h="0">
                <a:tc>
                  <a:txBody>
                    <a:bodyPr/>
                    <a:lstStyle/>
                    <a:p>
                      <a:pPr indent="0" marL="0">
                        <a:buNone/>
                      </a:pPr>
                      <a:r>
                        <a:rPr lang="en-US" sz="1100" b="1" dirty="0">
                          <a:solidFill>
                            <a:srgbClr val="171717"/>
                          </a:solidFill>
                          <a:latin typeface="Inter" pitchFamily="34" charset="0"/>
                          <a:ea typeface="Inter" pitchFamily="34" charset="-122"/>
                          <a:cs typeface="Inter" pitchFamily="34" charset="-120"/>
                        </a:rPr>
                        <a:t>Symptom</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5F2FF"/>
                    </a:solidFill>
                  </a:tcPr>
                </a:tc>
                <a:tc>
                  <a:txBody>
                    <a:bodyPr/>
                    <a:lstStyle/>
                    <a:p>
                      <a:pPr indent="0" marL="0">
                        <a:buNone/>
                      </a:pPr>
                      <a:r>
                        <a:rPr lang="en-US" sz="1100" b="1" dirty="0">
                          <a:solidFill>
                            <a:srgbClr val="171717"/>
                          </a:solidFill>
                          <a:latin typeface="Inter" pitchFamily="34" charset="0"/>
                          <a:ea typeface="Inter" pitchFamily="34" charset="-122"/>
                          <a:cs typeface="Inter" pitchFamily="34" charset="-120"/>
                        </a:rPr>
                        <a:t>Cause</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5F2FF"/>
                    </a:solidFill>
                  </a:tcPr>
                </a:tc>
                <a:tc>
                  <a:txBody>
                    <a:bodyPr/>
                    <a:lstStyle/>
                    <a:p>
                      <a:pPr indent="0" marL="0">
                        <a:buNone/>
                      </a:pPr>
                      <a:r>
                        <a:rPr lang="en-US" sz="1100" b="1" dirty="0">
                          <a:solidFill>
                            <a:srgbClr val="171717"/>
                          </a:solidFill>
                          <a:latin typeface="Inter" pitchFamily="34" charset="0"/>
                          <a:ea typeface="Inter" pitchFamily="34" charset="-122"/>
                          <a:cs typeface="Inter" pitchFamily="34" charset="-120"/>
                        </a:rPr>
                        <a:t>Fix</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5F2FF"/>
                    </a:solidFill>
                  </a:tcPr>
                </a:tc>
              </a:tr>
              <a:tr h="0">
                <a:tc>
                  <a:txBody>
                    <a:bodyPr/>
                    <a:lstStyle/>
                    <a:p>
                      <a:pPr indent="0" marL="0">
                        <a:buNone/>
                      </a:pPr>
                      <a:r>
                        <a:rPr lang="en-US" sz="1100" dirty="0">
                          <a:solidFill>
                            <a:srgbClr val="171717"/>
                          </a:solidFill>
                          <a:latin typeface="Inter" pitchFamily="34" charset="0"/>
                          <a:ea typeface="Inter" pitchFamily="34" charset="-122"/>
                          <a:cs typeface="Inter" pitchFamily="34" charset="-120"/>
                        </a:rPr>
                        <a:t>Addresses from older guides fail</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The Stellar testnet endpoint was redeployed in August 2026</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Resolve every address from the registry; compare OFT.endpoint() before sending</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r>
              <a:tr h="0">
                <a:tc>
                  <a:txBody>
                    <a:bodyPr/>
                    <a:lstStyle/>
                    <a:p>
                      <a:pPr indent="0" marL="0">
                        <a:buNone/>
                      </a:pPr>
                      <a:r>
                        <a:rPr lang="en-US" sz="1100" dirty="0">
                          <a:solidFill>
                            <a:srgbClr val="171717"/>
                          </a:solidFill>
                          <a:latin typeface="Inter" pitchFamily="34" charset="0"/>
                          <a:ea typeface="Inter" pitchFamily="34" charset="-122"/>
                          <a:cs typeface="Inter" pitchFamily="34" charset="-120"/>
                        </a:rPr>
                        <a:t>send fails with #1213 after quote succeeds</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The ULN default config still names a deprecated DVN</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Per-OApp set_config (types 2 and 3) naming the active DVN</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r>
              <a:tr h="0">
                <a:tc>
                  <a:txBody>
                    <a:bodyPr/>
                    <a:lstStyle/>
                    <a:p>
                      <a:pPr indent="0" marL="0">
                        <a:buNone/>
                      </a:pPr>
                      <a:r>
                        <a:rPr lang="en-US" sz="1100" dirty="0">
                          <a:solidFill>
                            <a:srgbClr val="171717"/>
                          </a:solidFill>
                          <a:latin typeface="Inter" pitchFamily="34" charset="0"/>
                          <a:ea typeface="Inter" pitchFamily="34" charset="-122"/>
                          <a:cs typeface="Inter" pitchFamily="34" charset="-120"/>
                        </a:rPr>
                        <a:t>A bare OApp send fails with #1114</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Empty options passed straight to the endpoint</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Call combine_options before quote and send; the OFT does this internally</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r>
              <a:tr h="0">
                <a:tc>
                  <a:txBody>
                    <a:bodyPr/>
                    <a:lstStyle/>
                    <a:p>
                      <a:pPr indent="0" marL="0">
                        <a:buNone/>
                      </a:pPr>
                      <a:r>
                        <a:rPr lang="en-US" sz="1100" dirty="0">
                          <a:solidFill>
                            <a:srgbClr val="171717"/>
                          </a:solidFill>
                          <a:latin typeface="Inter" pitchFamily="34" charset="0"/>
                          <a:ea typeface="Inter" pitchFamily="34" charset="-122"/>
                          <a:cs typeface="Inter" pitchFamily="34" charset="-120"/>
                        </a:rPr>
                        <a:t>Scan returns 404 for a Stellar tx for minutes</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Scan indexes Stellar testnet messages by GUID first</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Read the GUID from the packet_sent event and query /messages/guid</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r>
              <a:tr h="0">
                <a:tc>
                  <a:txBody>
                    <a:bodyPr/>
                    <a:lstStyle/>
                    <a:p>
                      <a:pPr indent="0" marL="0">
                        <a:buNone/>
                      </a:pPr>
                      <a:r>
                        <a:rPr lang="en-US" sz="1100" dirty="0">
                          <a:solidFill>
                            <a:srgbClr val="171717"/>
                          </a:solidFill>
                          <a:latin typeface="Inter" pitchFamily="34" charset="0"/>
                          <a:ea typeface="Inter" pitchFamily="34" charset="-122"/>
                          <a:cs typeface="Inter" pitchFamily="34" charset="-120"/>
                        </a:rPr>
                        <a:t>Sepolia to Stellar testnet waits on the DVN for weeks</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The LayerZero Labs testnet DVN has not attested that pathway since 9 September</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Moved the EVM side to Arbitrum Sepolia (EID 40231) on 29 September: inbound attested in seconds</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CFCFC"/>
                    </a:solidFill>
                  </a:tcPr>
                </a:tc>
              </a:tr>
              <a:tr h="0">
                <a:tc>
                  <a:txBody>
                    <a:bodyPr/>
                    <a:lstStyle/>
                    <a:p>
                      <a:pPr indent="0" marL="0">
                        <a:buNone/>
                      </a:pPr>
                      <a:r>
                        <a:rPr lang="en-US" sz="1100" dirty="0">
                          <a:solidFill>
                            <a:srgbClr val="171717"/>
                          </a:solidFill>
                          <a:latin typeface="Inter" pitchFamily="34" charset="0"/>
                          <a:ea typeface="Inter" pitchFamily="34" charset="-122"/>
                          <a:cs typeface="Inter" pitchFamily="34" charset="-120"/>
                        </a:rPr>
                        <a:t>Delivery takes 8 to 90 minutes</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Testnet executor lag</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c>
                  <a:txBody>
                    <a:bodyPr/>
                    <a:lstStyle/>
                    <a:p>
                      <a:pPr indent="0" marL="0">
                        <a:buNone/>
                      </a:pPr>
                      <a:r>
                        <a:rPr lang="en-US" sz="1100" dirty="0">
                          <a:solidFill>
                            <a:srgbClr val="171717"/>
                          </a:solidFill>
                          <a:latin typeface="Inter" pitchFamily="34" charset="0"/>
                          <a:ea typeface="Inter" pitchFamily="34" charset="-122"/>
                          <a:cs typeface="Inter" pitchFamily="34" charset="-120"/>
                        </a:rPr>
                        <a:t>Deliver it yourself: commitVerification then lzReceive, from the Tracker or a script</a:t>
                      </a:r>
                      <a:endParaRPr lang="en-US" sz="1100" dirty="0">
                        <a:latin typeface="Inter" charset="0"/>
                        <a:ea typeface="Inter" charset="0"/>
                        <a:cs typeface="Inter" charset="0"/>
                      </a:endParaRPr>
                    </a:p>
                  </a:txBody>
                  <a:tcPr marL="76200" marR="76200" marT="50800" marB="50800" anchor="ctr">
                    <a:lnL w="6350" cap="flat" cmpd="sng" algn="ctr">
                      <a:solidFill>
                        <a:srgbClr val="E2E2E2"/>
                      </a:solidFill>
                      <a:prstDash val="solid"/>
                      <a:round/>
                      <a:headEnd type="none" w="med" len="med"/>
                      <a:tailEnd type="none" w="med" len="med"/>
                    </a:lnL>
                    <a:lnR w="6350" cap="flat" cmpd="sng" algn="ctr">
                      <a:solidFill>
                        <a:srgbClr val="E2E2E2"/>
                      </a:solidFill>
                      <a:prstDash val="solid"/>
                      <a:round/>
                      <a:headEnd type="none" w="med" len="med"/>
                      <a:tailEnd type="none" w="med" len="med"/>
                    </a:lnR>
                    <a:lnT w="6350" cap="flat" cmpd="sng" algn="ctr">
                      <a:solidFill>
                        <a:srgbClr val="E2E2E2"/>
                      </a:solidFill>
                      <a:prstDash val="solid"/>
                      <a:round/>
                      <a:headEnd type="none" w="med" len="med"/>
                      <a:tailEnd type="none" w="med" len="med"/>
                    </a:lnT>
                    <a:lnB w="6350" cap="flat" cmpd="sng" algn="ctr">
                      <a:solidFill>
                        <a:srgbClr val="E2E2E2"/>
                      </a:solidFill>
                      <a:prstDash val="solid"/>
                      <a:round/>
                      <a:headEnd type="none" w="med" len="med"/>
                      <a:tailEnd type="none" w="med" len="med"/>
                    </a:lnB>
                    <a:solidFill>
                      <a:srgbClr val="F8F8F8"/>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616"/>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200" kern="0" dirty="0">
                <a:solidFill>
                  <a:srgbClr val="9E8CFC"/>
                </a:solidFill>
                <a:latin typeface="Inter" pitchFamily="34" charset="0"/>
                <a:ea typeface="Inter" pitchFamily="34" charset="-122"/>
                <a:cs typeface="Inter" pitchFamily="34" charset="-120"/>
              </a:rPr>
              <a:t>NEXT</a:t>
            </a:r>
            <a:endParaRPr lang="en-US" sz="1100" dirty="0"/>
          </a:p>
        </p:txBody>
      </p:sp>
      <p:sp>
        <p:nvSpPr>
          <p:cNvPr id="4"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200" b="1" dirty="0">
                <a:solidFill>
                  <a:srgbClr val="EDEDED"/>
                </a:solidFill>
                <a:latin typeface="Inter" pitchFamily="34" charset="0"/>
                <a:ea typeface="Inter" pitchFamily="34" charset="-122"/>
                <a:cs typeface="Inter" pitchFamily="34" charset="-120"/>
              </a:rPr>
              <a:t>Fork it, then build one of these</a:t>
            </a:r>
            <a:endParaRPr lang="en-US" sz="3200" dirty="0"/>
          </a:p>
        </p:txBody>
      </p:sp>
      <p:sp>
        <p:nvSpPr>
          <p:cNvPr id="5" name="Shape 2"/>
          <p:cNvSpPr/>
          <p:nvPr/>
        </p:nvSpPr>
        <p:spPr>
          <a:xfrm>
            <a:off x="548640" y="1691640"/>
            <a:ext cx="5394960" cy="4160520"/>
          </a:xfrm>
          <a:prstGeom prst="roundRect">
            <a:avLst>
              <a:gd name="adj" fmla="val 2637"/>
            </a:avLst>
          </a:prstGeom>
          <a:solidFill>
            <a:srgbClr val="232323"/>
          </a:solidFill>
          <a:ln w="9525">
            <a:solidFill>
              <a:srgbClr val="343434"/>
            </a:solidFill>
            <a:prstDash val="solid"/>
          </a:ln>
        </p:spPr>
      </p:sp>
      <p:sp>
        <p:nvSpPr>
          <p:cNvPr id="6" name="Text 3"/>
          <p:cNvSpPr txBox="1"/>
          <p:nvPr/>
        </p:nvSpPr>
        <p:spPr>
          <a:xfrm>
            <a:off x="749808" y="1828800"/>
            <a:ext cx="4992624" cy="320040"/>
          </a:xfrm>
          <a:prstGeom prst="rect">
            <a:avLst/>
          </a:prstGeom>
          <a:noFill/>
          <a:ln/>
        </p:spPr>
        <p:txBody>
          <a:bodyPr wrap="square" lIns="0" tIns="0" rIns="0" bIns="0" rtlCol="0" anchor="ctr"/>
          <a:lstStyle/>
          <a:p>
            <a:pPr indent="0" marL="0">
              <a:buNone/>
            </a:pPr>
            <a:r>
              <a:rPr lang="en-US" sz="1500" b="1" dirty="0">
                <a:solidFill>
                  <a:srgbClr val="EDEDED"/>
                </a:solidFill>
                <a:latin typeface="Inter" pitchFamily="34" charset="0"/>
                <a:ea typeface="Inter" pitchFamily="34" charset="-122"/>
                <a:cs typeface="Inter" pitchFamily="34" charset="-120"/>
              </a:rPr>
              <a:t>Links</a:t>
            </a:r>
            <a:endParaRPr lang="en-US" sz="1500" dirty="0"/>
          </a:p>
        </p:txBody>
      </p:sp>
      <p:sp>
        <p:nvSpPr>
          <p:cNvPr id="7" name="Text 4"/>
          <p:cNvSpPr txBox="1"/>
          <p:nvPr/>
        </p:nvSpPr>
        <p:spPr>
          <a:xfrm>
            <a:off x="749808" y="2286000"/>
            <a:ext cx="4992624" cy="256032"/>
          </a:xfrm>
          <a:prstGeom prst="rect">
            <a:avLst/>
          </a:prstGeom>
          <a:noFill/>
          <a:ln/>
        </p:spPr>
        <p:txBody>
          <a:bodyPr wrap="square" lIns="0" tIns="0" rIns="0" bIns="0" rtlCol="0" anchor="ctr"/>
          <a:lstStyle/>
          <a:p>
            <a:pPr indent="0" marL="0">
              <a:buNone/>
            </a:pPr>
            <a:r>
              <a:rPr lang="en-US" sz="1100" dirty="0">
                <a:solidFill>
                  <a:srgbClr val="A0A0A0"/>
                </a:solidFill>
                <a:latin typeface="Inter" pitchFamily="34" charset="0"/>
                <a:ea typeface="Inter" pitchFamily="34" charset="-122"/>
                <a:cs typeface="Inter" pitchFamily="34" charset="-120"/>
              </a:rPr>
              <a:t>Live site (MIT, no backend)</a:t>
            </a:r>
            <a:endParaRPr lang="en-US" sz="1100" dirty="0"/>
          </a:p>
        </p:txBody>
      </p:sp>
      <p:sp>
        <p:nvSpPr>
          <p:cNvPr id="8" name="Text 5"/>
          <p:cNvSpPr txBox="1"/>
          <p:nvPr/>
        </p:nvSpPr>
        <p:spPr>
          <a:xfrm>
            <a:off x="749808" y="2542032"/>
            <a:ext cx="4992624" cy="274320"/>
          </a:xfrm>
          <a:prstGeom prst="rect">
            <a:avLst/>
          </a:prstGeom>
          <a:noFill/>
          <a:ln/>
        </p:spPr>
        <p:txBody>
          <a:bodyPr wrap="square" lIns="0" tIns="0" rIns="0" bIns="0" rtlCol="0" anchor="ctr"/>
          <a:lstStyle/>
          <a:p>
            <a:pPr indent="0" marL="0">
              <a:buNone/>
            </a:pPr>
            <a:r>
              <a:rPr lang="en-US" sz="1150" dirty="0">
                <a:solidFill>
                  <a:srgbClr val="9E8CFC"/>
                </a:solidFill>
                <a:latin typeface="Inconsolata" pitchFamily="34" charset="0"/>
                <a:ea typeface="Inconsolata" pitchFamily="34" charset="-122"/>
                <a:cs typeface="Inconsolata" pitchFamily="34" charset="-120"/>
              </a:rPr>
              <a:t>kaankacar.github.io/stellar-layerzero-demos</a:t>
            </a:r>
            <a:endParaRPr lang="en-US" sz="1150" dirty="0"/>
          </a:p>
        </p:txBody>
      </p:sp>
      <p:sp>
        <p:nvSpPr>
          <p:cNvPr id="9" name="Text 6"/>
          <p:cNvSpPr txBox="1"/>
          <p:nvPr/>
        </p:nvSpPr>
        <p:spPr>
          <a:xfrm>
            <a:off x="749808" y="2944368"/>
            <a:ext cx="4992624" cy="256032"/>
          </a:xfrm>
          <a:prstGeom prst="rect">
            <a:avLst/>
          </a:prstGeom>
          <a:noFill/>
          <a:ln/>
        </p:spPr>
        <p:txBody>
          <a:bodyPr wrap="square" lIns="0" tIns="0" rIns="0" bIns="0" rtlCol="0" anchor="ctr"/>
          <a:lstStyle/>
          <a:p>
            <a:pPr indent="0" marL="0">
              <a:buNone/>
            </a:pPr>
            <a:r>
              <a:rPr lang="en-US" sz="1100" dirty="0">
                <a:solidFill>
                  <a:srgbClr val="A0A0A0"/>
                </a:solidFill>
                <a:latin typeface="Inter" pitchFamily="34" charset="0"/>
                <a:ea typeface="Inter" pitchFamily="34" charset="-122"/>
                <a:cs typeface="Inter" pitchFamily="34" charset="-120"/>
              </a:rPr>
              <a:t>Repository</a:t>
            </a:r>
            <a:endParaRPr lang="en-US" sz="1100" dirty="0"/>
          </a:p>
        </p:txBody>
      </p:sp>
      <p:sp>
        <p:nvSpPr>
          <p:cNvPr id="10" name="Text 7"/>
          <p:cNvSpPr txBox="1"/>
          <p:nvPr/>
        </p:nvSpPr>
        <p:spPr>
          <a:xfrm>
            <a:off x="749808" y="3200400"/>
            <a:ext cx="4992624" cy="274320"/>
          </a:xfrm>
          <a:prstGeom prst="rect">
            <a:avLst/>
          </a:prstGeom>
          <a:noFill/>
          <a:ln/>
        </p:spPr>
        <p:txBody>
          <a:bodyPr wrap="square" lIns="0" tIns="0" rIns="0" bIns="0" rtlCol="0" anchor="ctr"/>
          <a:lstStyle/>
          <a:p>
            <a:pPr indent="0" marL="0">
              <a:buNone/>
            </a:pPr>
            <a:r>
              <a:rPr lang="en-US" sz="1150" dirty="0">
                <a:solidFill>
                  <a:srgbClr val="9E8CFC"/>
                </a:solidFill>
                <a:latin typeface="Inconsolata" pitchFamily="34" charset="0"/>
                <a:ea typeface="Inconsolata" pitchFamily="34" charset="-122"/>
                <a:cs typeface="Inconsolata" pitchFamily="34" charset="-120"/>
              </a:rPr>
              <a:t>github.com/kaankacar/stellar-layerzero-demos</a:t>
            </a:r>
            <a:endParaRPr lang="en-US" sz="1150" dirty="0"/>
          </a:p>
        </p:txBody>
      </p:sp>
      <p:sp>
        <p:nvSpPr>
          <p:cNvPr id="11" name="Text 8"/>
          <p:cNvSpPr txBox="1"/>
          <p:nvPr/>
        </p:nvSpPr>
        <p:spPr>
          <a:xfrm>
            <a:off x="749808" y="3602736"/>
            <a:ext cx="4992624" cy="256032"/>
          </a:xfrm>
          <a:prstGeom prst="rect">
            <a:avLst/>
          </a:prstGeom>
          <a:noFill/>
          <a:ln/>
        </p:spPr>
        <p:txBody>
          <a:bodyPr wrap="square" lIns="0" tIns="0" rIns="0" bIns="0" rtlCol="0" anchor="ctr"/>
          <a:lstStyle/>
          <a:p>
            <a:pPr indent="0" marL="0">
              <a:buNone/>
            </a:pPr>
            <a:r>
              <a:rPr lang="en-US" sz="1100" dirty="0">
                <a:solidFill>
                  <a:srgbClr val="A0A0A0"/>
                </a:solidFill>
                <a:latin typeface="Inter" pitchFamily="34" charset="0"/>
                <a:ea typeface="Inter" pitchFamily="34" charset="-122"/>
                <a:cs typeface="Inter" pitchFamily="34" charset="-120"/>
              </a:rPr>
              <a:t>Stellar docs · Tokens · USDT0</a:t>
            </a:r>
            <a:endParaRPr lang="en-US" sz="1100" dirty="0"/>
          </a:p>
        </p:txBody>
      </p:sp>
      <p:sp>
        <p:nvSpPr>
          <p:cNvPr id="12" name="Text 9"/>
          <p:cNvSpPr txBox="1"/>
          <p:nvPr/>
        </p:nvSpPr>
        <p:spPr>
          <a:xfrm>
            <a:off x="749808" y="3858768"/>
            <a:ext cx="4992624" cy="274320"/>
          </a:xfrm>
          <a:prstGeom prst="rect">
            <a:avLst/>
          </a:prstGeom>
          <a:noFill/>
          <a:ln/>
        </p:spPr>
        <p:txBody>
          <a:bodyPr wrap="square" lIns="0" tIns="0" rIns="0" bIns="0" rtlCol="0" anchor="ctr"/>
          <a:lstStyle/>
          <a:p>
            <a:pPr indent="0" marL="0">
              <a:buNone/>
            </a:pPr>
            <a:r>
              <a:rPr lang="en-US" sz="1150" dirty="0">
                <a:solidFill>
                  <a:srgbClr val="9E8CFC"/>
                </a:solidFill>
                <a:latin typeface="Inconsolata" pitchFamily="34" charset="0"/>
                <a:ea typeface="Inconsolata" pitchFamily="34" charset="-122"/>
                <a:cs typeface="Inconsolata" pitchFamily="34" charset="-120"/>
              </a:rPr>
              <a:t>developers.stellar.org/docs/tokens/usdt0-layerzero</a:t>
            </a:r>
            <a:endParaRPr lang="en-US" sz="1150" dirty="0"/>
          </a:p>
        </p:txBody>
      </p:sp>
      <p:sp>
        <p:nvSpPr>
          <p:cNvPr id="13" name="Text 10"/>
          <p:cNvSpPr txBox="1"/>
          <p:nvPr/>
        </p:nvSpPr>
        <p:spPr>
          <a:xfrm>
            <a:off x="749808" y="4261104"/>
            <a:ext cx="4992624" cy="256032"/>
          </a:xfrm>
          <a:prstGeom prst="rect">
            <a:avLst/>
          </a:prstGeom>
          <a:noFill/>
          <a:ln/>
        </p:spPr>
        <p:txBody>
          <a:bodyPr wrap="square" lIns="0" tIns="0" rIns="0" bIns="0" rtlCol="0" anchor="ctr"/>
          <a:lstStyle/>
          <a:p>
            <a:pPr indent="0" marL="0">
              <a:buNone/>
            </a:pPr>
            <a:r>
              <a:rPr lang="en-US" sz="1100" dirty="0">
                <a:solidFill>
                  <a:srgbClr val="A0A0A0"/>
                </a:solidFill>
                <a:latin typeface="Inter" pitchFamily="34" charset="0"/>
                <a:ea typeface="Inter" pitchFamily="34" charset="-122"/>
                <a:cs typeface="Inter" pitchFamily="34" charset="-120"/>
              </a:rPr>
              <a:t>LayerZero on Stellar</a:t>
            </a:r>
            <a:endParaRPr lang="en-US" sz="1100" dirty="0"/>
          </a:p>
        </p:txBody>
      </p:sp>
      <p:sp>
        <p:nvSpPr>
          <p:cNvPr id="14" name="Text 11"/>
          <p:cNvSpPr txBox="1"/>
          <p:nvPr/>
        </p:nvSpPr>
        <p:spPr>
          <a:xfrm>
            <a:off x="749808" y="4517136"/>
            <a:ext cx="4992624" cy="274320"/>
          </a:xfrm>
          <a:prstGeom prst="rect">
            <a:avLst/>
          </a:prstGeom>
          <a:noFill/>
          <a:ln/>
        </p:spPr>
        <p:txBody>
          <a:bodyPr wrap="square" lIns="0" tIns="0" rIns="0" bIns="0" rtlCol="0" anchor="ctr"/>
          <a:lstStyle/>
          <a:p>
            <a:pPr indent="0" marL="0">
              <a:buNone/>
            </a:pPr>
            <a:r>
              <a:rPr lang="en-US" sz="1150" dirty="0">
                <a:solidFill>
                  <a:srgbClr val="9E8CFC"/>
                </a:solidFill>
                <a:latin typeface="Inconsolata" pitchFamily="34" charset="0"/>
                <a:ea typeface="Inconsolata" pitchFamily="34" charset="-122"/>
                <a:cs typeface="Inconsolata" pitchFamily="34" charset="-120"/>
              </a:rPr>
              <a:t>docs.layerzero.network/v2/developers/stellar</a:t>
            </a:r>
            <a:endParaRPr lang="en-US" sz="1150" dirty="0"/>
          </a:p>
        </p:txBody>
      </p:sp>
      <p:sp>
        <p:nvSpPr>
          <p:cNvPr id="15" name="Text 12"/>
          <p:cNvSpPr txBox="1"/>
          <p:nvPr/>
        </p:nvSpPr>
        <p:spPr>
          <a:xfrm>
            <a:off x="749808" y="4919472"/>
            <a:ext cx="4992624" cy="256032"/>
          </a:xfrm>
          <a:prstGeom prst="rect">
            <a:avLst/>
          </a:prstGeom>
          <a:noFill/>
          <a:ln/>
        </p:spPr>
        <p:txBody>
          <a:bodyPr wrap="square" lIns="0" tIns="0" rIns="0" bIns="0" rtlCol="0" anchor="ctr"/>
          <a:lstStyle/>
          <a:p>
            <a:pPr indent="0" marL="0">
              <a:buNone/>
            </a:pPr>
            <a:r>
              <a:rPr lang="en-US" sz="1100" dirty="0">
                <a:solidFill>
                  <a:srgbClr val="A0A0A0"/>
                </a:solidFill>
                <a:latin typeface="Inter" pitchFamily="34" charset="0"/>
                <a:ea typeface="Inter" pitchFamily="34" charset="-122"/>
                <a:cs typeface="Inter" pitchFamily="34" charset="-120"/>
              </a:rPr>
              <a:t>USDT0 deployments · Dune</a:t>
            </a:r>
            <a:endParaRPr lang="en-US" sz="1100" dirty="0"/>
          </a:p>
        </p:txBody>
      </p:sp>
      <p:sp>
        <p:nvSpPr>
          <p:cNvPr id="16" name="Text 13"/>
          <p:cNvSpPr txBox="1"/>
          <p:nvPr/>
        </p:nvSpPr>
        <p:spPr>
          <a:xfrm>
            <a:off x="749808" y="5175504"/>
            <a:ext cx="4992624" cy="274320"/>
          </a:xfrm>
          <a:prstGeom prst="rect">
            <a:avLst/>
          </a:prstGeom>
          <a:noFill/>
          <a:ln/>
        </p:spPr>
        <p:txBody>
          <a:bodyPr wrap="square" lIns="0" tIns="0" rIns="0" bIns="0" rtlCol="0" anchor="ctr"/>
          <a:lstStyle/>
          <a:p>
            <a:pPr indent="0" marL="0">
              <a:buNone/>
            </a:pPr>
            <a:r>
              <a:rPr lang="en-US" sz="1150" dirty="0">
                <a:solidFill>
                  <a:srgbClr val="9E8CFC"/>
                </a:solidFill>
                <a:latin typeface="Inconsolata" pitchFamily="34" charset="0"/>
                <a:ea typeface="Inconsolata" pitchFamily="34" charset="-122"/>
                <a:cs typeface="Inconsolata" pitchFamily="34" charset="-120"/>
              </a:rPr>
              <a:t>docs.usdt0.to · dune.com/stellar/stellar-layerzero-oft-volume</a:t>
            </a:r>
            <a:endParaRPr lang="en-US" sz="1150" dirty="0"/>
          </a:p>
        </p:txBody>
      </p:sp>
      <p:sp>
        <p:nvSpPr>
          <p:cNvPr id="17" name="Shape 14"/>
          <p:cNvSpPr/>
          <p:nvPr/>
        </p:nvSpPr>
        <p:spPr>
          <a:xfrm>
            <a:off x="6217920" y="1691640"/>
            <a:ext cx="5425135" cy="1280160"/>
          </a:xfrm>
          <a:prstGeom prst="roundRect">
            <a:avLst>
              <a:gd name="adj" fmla="val 8571"/>
            </a:avLst>
          </a:prstGeom>
          <a:solidFill>
            <a:srgbClr val="232323"/>
          </a:solidFill>
          <a:ln w="9525">
            <a:solidFill>
              <a:srgbClr val="343434"/>
            </a:solidFill>
            <a:prstDash val="solid"/>
          </a:ln>
        </p:spPr>
      </p:sp>
      <p:sp>
        <p:nvSpPr>
          <p:cNvPr id="18" name="Text 15"/>
          <p:cNvSpPr txBox="1"/>
          <p:nvPr/>
        </p:nvSpPr>
        <p:spPr>
          <a:xfrm>
            <a:off x="6419088" y="1874520"/>
            <a:ext cx="5022799" cy="320040"/>
          </a:xfrm>
          <a:prstGeom prst="rect">
            <a:avLst/>
          </a:prstGeom>
          <a:noFill/>
          <a:ln/>
        </p:spPr>
        <p:txBody>
          <a:bodyPr wrap="square" lIns="0" tIns="0" rIns="0" bIns="0" rtlCol="0" anchor="t"/>
          <a:lstStyle/>
          <a:p>
            <a:pPr indent="0" marL="0">
              <a:buNone/>
            </a:pPr>
            <a:r>
              <a:rPr lang="en-US" sz="1350" b="1" dirty="0">
                <a:solidFill>
                  <a:srgbClr val="EDEDED"/>
                </a:solidFill>
                <a:latin typeface="Inter" pitchFamily="34" charset="0"/>
                <a:ea typeface="Inter" pitchFamily="34" charset="-122"/>
                <a:cs typeface="Inter" pitchFamily="34" charset="-120"/>
              </a:rPr>
              <a:t>Composed messages, the other way</a:t>
            </a:r>
            <a:endParaRPr lang="en-US" sz="1350" dirty="0"/>
          </a:p>
        </p:txBody>
      </p:sp>
      <p:sp>
        <p:nvSpPr>
          <p:cNvPr id="19" name="Text 16"/>
          <p:cNvSpPr txBox="1"/>
          <p:nvPr/>
        </p:nvSpPr>
        <p:spPr>
          <a:xfrm>
            <a:off x="6419088" y="2258568"/>
            <a:ext cx="5022799" cy="548640"/>
          </a:xfrm>
          <a:prstGeom prst="rect">
            <a:avLst/>
          </a:prstGeom>
          <a:noFill/>
          <a:ln/>
        </p:spPr>
        <p:txBody>
          <a:bodyPr wrap="square" lIns="0" tIns="0" rIns="0" bIns="0" rtlCol="0" anchor="t"/>
          <a:lstStyle/>
          <a:p>
            <a:pPr indent="0" marL="0">
              <a:lnSpc>
                <a:spcPct val="112000"/>
              </a:lnSpc>
              <a:buNone/>
            </a:pPr>
            <a:r>
              <a:rPr lang="en-US" sz="1150" dirty="0">
                <a:solidFill>
                  <a:srgbClr val="A0A0A0"/>
                </a:solidFill>
                <a:latin typeface="Inter" pitchFamily="34" charset="0"/>
                <a:ea typeface="Inter" pitchFamily="34" charset="-122"/>
                <a:cs typeface="Inter" pitchFamily="34" charset="-120"/>
              </a:rPr>
              <a:t>The Compose page does EVM to Stellar. Build the mirror: a Solidity composer that reacts to a tUSDT0 transfer sent from Stellar with compose_msg, and render Scan's destination.lzCompose in the Tracker.</a:t>
            </a:r>
            <a:endParaRPr lang="en-US" sz="1150" dirty="0"/>
          </a:p>
        </p:txBody>
      </p:sp>
      <p:sp>
        <p:nvSpPr>
          <p:cNvPr id="20" name="Shape 17"/>
          <p:cNvSpPr/>
          <p:nvPr/>
        </p:nvSpPr>
        <p:spPr>
          <a:xfrm>
            <a:off x="6217920" y="3127248"/>
            <a:ext cx="5425135" cy="1280160"/>
          </a:xfrm>
          <a:prstGeom prst="roundRect">
            <a:avLst>
              <a:gd name="adj" fmla="val 8571"/>
            </a:avLst>
          </a:prstGeom>
          <a:solidFill>
            <a:srgbClr val="232323"/>
          </a:solidFill>
          <a:ln w="9525">
            <a:solidFill>
              <a:srgbClr val="343434"/>
            </a:solidFill>
            <a:prstDash val="solid"/>
          </a:ln>
        </p:spPr>
      </p:sp>
      <p:sp>
        <p:nvSpPr>
          <p:cNvPr id="21" name="Text 18"/>
          <p:cNvSpPr txBox="1"/>
          <p:nvPr/>
        </p:nvSpPr>
        <p:spPr>
          <a:xfrm>
            <a:off x="6419088" y="3310128"/>
            <a:ext cx="5022799" cy="320040"/>
          </a:xfrm>
          <a:prstGeom prst="rect">
            <a:avLst/>
          </a:prstGeom>
          <a:noFill/>
          <a:ln/>
        </p:spPr>
        <p:txBody>
          <a:bodyPr wrap="square" lIns="0" tIns="0" rIns="0" bIns="0" rtlCol="0" anchor="t"/>
          <a:lstStyle/>
          <a:p>
            <a:pPr indent="0" marL="0">
              <a:buNone/>
            </a:pPr>
            <a:r>
              <a:rPr lang="en-US" sz="1350" b="1" dirty="0">
                <a:solidFill>
                  <a:srgbClr val="EDEDED"/>
                </a:solidFill>
                <a:latin typeface="Inter" pitchFamily="34" charset="0"/>
                <a:ea typeface="Inter" pitchFamily="34" charset="-122"/>
                <a:cs typeface="Inter" pitchFamily="34" charset="-120"/>
              </a:rPr>
              <a:t>Solana leg with Phantom</a:t>
            </a:r>
            <a:endParaRPr lang="en-US" sz="1350" dirty="0"/>
          </a:p>
        </p:txBody>
      </p:sp>
      <p:sp>
        <p:nvSpPr>
          <p:cNvPr id="22" name="Text 19"/>
          <p:cNvSpPr txBox="1"/>
          <p:nvPr/>
        </p:nvSpPr>
        <p:spPr>
          <a:xfrm>
            <a:off x="6419088" y="3694176"/>
            <a:ext cx="5022799" cy="548640"/>
          </a:xfrm>
          <a:prstGeom prst="rect">
            <a:avLst/>
          </a:prstGeom>
          <a:noFill/>
          <a:ln/>
        </p:spPr>
        <p:txBody>
          <a:bodyPr wrap="square" lIns="0" tIns="0" rIns="0" bIns="0" rtlCol="0" anchor="t"/>
          <a:lstStyle/>
          <a:p>
            <a:pPr indent="0" marL="0">
              <a:lnSpc>
                <a:spcPct val="112000"/>
              </a:lnSpc>
              <a:buNone/>
            </a:pPr>
            <a:r>
              <a:rPr lang="en-US" sz="1150" dirty="0">
                <a:solidFill>
                  <a:srgbClr val="A0A0A0"/>
                </a:solidFill>
                <a:latin typeface="Inter" pitchFamily="34" charset="0"/>
                <a:ea typeface="Inter" pitchFamily="34" charset="-122"/>
                <a:cs typeface="Inter" pitchFamily="34" charset="-120"/>
              </a:rPr>
              <a:t>Deploy the Solana OFT program on devnet and peer EID 40168 as a third chain. The wallet slot and the Phantom adapter are already in the repo.</a:t>
            </a:r>
            <a:endParaRPr lang="en-US" sz="1150" dirty="0"/>
          </a:p>
        </p:txBody>
      </p:sp>
      <p:sp>
        <p:nvSpPr>
          <p:cNvPr id="23" name="Shape 20"/>
          <p:cNvSpPr/>
          <p:nvPr/>
        </p:nvSpPr>
        <p:spPr>
          <a:xfrm>
            <a:off x="6217920" y="4562856"/>
            <a:ext cx="5425135" cy="1280160"/>
          </a:xfrm>
          <a:prstGeom prst="roundRect">
            <a:avLst>
              <a:gd name="adj" fmla="val 8571"/>
            </a:avLst>
          </a:prstGeom>
          <a:solidFill>
            <a:srgbClr val="232323"/>
          </a:solidFill>
          <a:ln w="9525">
            <a:solidFill>
              <a:srgbClr val="343434"/>
            </a:solidFill>
            <a:prstDash val="solid"/>
          </a:ln>
        </p:spPr>
      </p:sp>
      <p:sp>
        <p:nvSpPr>
          <p:cNvPr id="24" name="Text 21"/>
          <p:cNvSpPr txBox="1"/>
          <p:nvPr/>
        </p:nvSpPr>
        <p:spPr>
          <a:xfrm>
            <a:off x="6419088" y="4745736"/>
            <a:ext cx="5022799" cy="320040"/>
          </a:xfrm>
          <a:prstGeom prst="rect">
            <a:avLst/>
          </a:prstGeom>
          <a:noFill/>
          <a:ln/>
        </p:spPr>
        <p:txBody>
          <a:bodyPr wrap="square" lIns="0" tIns="0" rIns="0" bIns="0" rtlCol="0" anchor="t"/>
          <a:lstStyle/>
          <a:p>
            <a:pPr indent="0" marL="0">
              <a:buNone/>
            </a:pPr>
            <a:r>
              <a:rPr lang="en-US" sz="1350" b="1" dirty="0">
                <a:solidFill>
                  <a:srgbClr val="EDEDED"/>
                </a:solidFill>
                <a:latin typeface="Inter" pitchFamily="34" charset="0"/>
                <a:ea typeface="Inter" pitchFamily="34" charset="-122"/>
                <a:cs typeface="Inter" pitchFamily="34" charset="-120"/>
              </a:rPr>
              <a:t>Stuck-message alert bot</a:t>
            </a:r>
            <a:endParaRPr lang="en-US" sz="1350" dirty="0"/>
          </a:p>
        </p:txBody>
      </p:sp>
      <p:sp>
        <p:nvSpPr>
          <p:cNvPr id="25" name="Text 22"/>
          <p:cNvSpPr txBox="1"/>
          <p:nvPr/>
        </p:nvSpPr>
        <p:spPr>
          <a:xfrm>
            <a:off x="6419088" y="5129784"/>
            <a:ext cx="5022799" cy="548640"/>
          </a:xfrm>
          <a:prstGeom prst="rect">
            <a:avLst/>
          </a:prstGeom>
          <a:noFill/>
          <a:ln/>
        </p:spPr>
        <p:txBody>
          <a:bodyPr wrap="square" lIns="0" tIns="0" rIns="0" bIns="0" rtlCol="0" anchor="t"/>
          <a:lstStyle/>
          <a:p>
            <a:pPr indent="0" marL="0">
              <a:lnSpc>
                <a:spcPct val="112000"/>
              </a:lnSpc>
              <a:buNone/>
            </a:pPr>
            <a:r>
              <a:rPr lang="en-US" sz="1150" dirty="0">
                <a:solidFill>
                  <a:srgbClr val="A0A0A0"/>
                </a:solidFill>
                <a:latin typeface="Inter" pitchFamily="34" charset="0"/>
                <a:ea typeface="Inter" pitchFamily="34" charset="-122"/>
                <a:cs typeface="Inter" pitchFamily="34" charset="-120"/>
              </a:rPr>
              <a:t>Poll /messages/status/INFLIGHT for Stellar pathways and post to Slack or Discord with a Tracker deep link. A GitHub Action on a cron is enough.</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E56CF"/>
        </a:solidFill>
      </p:bgPr>
    </p:bg>
    <p:spTree>
      <p:nvGrpSpPr>
        <p:cNvPr id="1" name=""/>
        <p:cNvGrpSpPr/>
        <p:nvPr/>
      </p:nvGrpSpPr>
      <p:grpSpPr>
        <a:xfrm>
          <a:off x="0" y="0"/>
          <a:ext cx="0" cy="0"/>
          <a:chOff x="0" y="0"/>
          <a:chExt cx="0" cy="0"/>
        </a:xfrm>
      </p:grpSpPr>
      <p:sp>
        <p:nvSpPr>
          <p:cNvPr id="3" name="Text 0"/>
          <p:cNvSpPr txBox="1"/>
          <p:nvPr/>
        </p:nvSpPr>
        <p:spPr>
          <a:xfrm>
            <a:off x="548640" y="2103120"/>
            <a:ext cx="11094415" cy="1280160"/>
          </a:xfrm>
          <a:prstGeom prst="rect">
            <a:avLst/>
          </a:prstGeom>
          <a:noFill/>
          <a:ln/>
        </p:spPr>
        <p:txBody>
          <a:bodyPr wrap="square" lIns="0" tIns="0" rIns="0" bIns="0" rtlCol="0" anchor="t"/>
          <a:lstStyle/>
          <a:p>
            <a:pPr indent="0" marL="0">
              <a:buNone/>
            </a:pPr>
            <a:r>
              <a:rPr lang="en-US" sz="6000" b="1" dirty="0">
                <a:solidFill>
                  <a:srgbClr val="F1EEFE"/>
                </a:solidFill>
                <a:latin typeface="Inter" pitchFamily="34" charset="0"/>
                <a:ea typeface="Inter" pitchFamily="34" charset="-122"/>
                <a:cs typeface="Inter" pitchFamily="34" charset="-120"/>
              </a:rPr>
              <a:t>Questions?</a:t>
            </a:r>
            <a:endParaRPr lang="en-US" sz="6000" dirty="0"/>
          </a:p>
        </p:txBody>
      </p:sp>
      <p:sp>
        <p:nvSpPr>
          <p:cNvPr id="4" name="Text 1"/>
          <p:cNvSpPr txBox="1"/>
          <p:nvPr/>
        </p:nvSpPr>
        <p:spPr>
          <a:xfrm>
            <a:off x="548640" y="3474720"/>
            <a:ext cx="8686800" cy="1097280"/>
          </a:xfrm>
          <a:prstGeom prst="rect">
            <a:avLst/>
          </a:prstGeom>
          <a:noFill/>
          <a:ln/>
        </p:spPr>
        <p:txBody>
          <a:bodyPr wrap="square" lIns="0" tIns="0" rIns="0" bIns="0" rtlCol="0" anchor="t"/>
          <a:lstStyle/>
          <a:p>
            <a:pPr indent="0" marL="0">
              <a:lnSpc>
                <a:spcPct val="120000"/>
              </a:lnSpc>
              <a:buNone/>
            </a:pPr>
            <a:r>
              <a:rPr lang="en-US" sz="1800" dirty="0">
                <a:solidFill>
                  <a:srgbClr val="F1EEFE"/>
                </a:solidFill>
                <a:latin typeface="Inter" pitchFamily="34" charset="0"/>
                <a:ea typeface="Inter" pitchFamily="34" charset="-122"/>
                <a:cs typeface="Inter" pitchFamily="34" charset="-120"/>
              </a:rPr>
              <a:t>Slides, code and every address are in the repo. Sent a real USDT0 message during the call? Paste the hash into the Tracker and we will watch it land.</a:t>
            </a:r>
            <a:endParaRPr lang="en-US" sz="1800" dirty="0"/>
          </a:p>
        </p:txBody>
      </p:sp>
      <p:sp>
        <p:nvSpPr>
          <p:cNvPr id="5" name="Text 2"/>
          <p:cNvSpPr txBox="1"/>
          <p:nvPr/>
        </p:nvSpPr>
        <p:spPr>
          <a:xfrm>
            <a:off x="548640" y="6172200"/>
            <a:ext cx="5486400" cy="320040"/>
          </a:xfrm>
          <a:prstGeom prst="rect">
            <a:avLst/>
          </a:prstGeom>
          <a:noFill/>
          <a:ln/>
        </p:spPr>
        <p:txBody>
          <a:bodyPr wrap="square" lIns="0" tIns="0" rIns="0" bIns="0" rtlCol="0" anchor="b"/>
          <a:lstStyle/>
          <a:p>
            <a:pPr indent="0" marL="0">
              <a:buNone/>
            </a:pPr>
            <a:r>
              <a:rPr lang="en-US" sz="1100" dirty="0">
                <a:solidFill>
                  <a:srgbClr val="F1EEFE"/>
                </a:solidFill>
                <a:latin typeface="Inter" pitchFamily="34" charset="0"/>
                <a:ea typeface="Inter" pitchFamily="34" charset="-122"/>
                <a:cs typeface="Inter" pitchFamily="34" charset="-120"/>
              </a:rPr>
              <a:t>Kaan Kacar · Stellar Development Foundation</a:t>
            </a:r>
            <a:endParaRPr lang="en-US" sz="1100" dirty="0"/>
          </a:p>
        </p:txBody>
      </p:sp>
      <p:sp>
        <p:nvSpPr>
          <p:cNvPr id="6" name="Text 3"/>
          <p:cNvSpPr txBox="1"/>
          <p:nvPr/>
        </p:nvSpPr>
        <p:spPr>
          <a:xfrm>
            <a:off x="6156655" y="6172200"/>
            <a:ext cx="5486400" cy="320040"/>
          </a:xfrm>
          <a:prstGeom prst="rect">
            <a:avLst/>
          </a:prstGeom>
          <a:noFill/>
          <a:ln/>
        </p:spPr>
        <p:txBody>
          <a:bodyPr wrap="square" lIns="0" tIns="0" rIns="0" bIns="0" rtlCol="0" anchor="b"/>
          <a:lstStyle/>
          <a:p>
            <a:pPr algn="r" indent="0" marL="0">
              <a:buNone/>
            </a:pPr>
            <a:r>
              <a:rPr lang="en-US" sz="1100" dirty="0">
                <a:solidFill>
                  <a:srgbClr val="F1EEFE"/>
                </a:solidFill>
                <a:latin typeface="Inconsolata" pitchFamily="34" charset="0"/>
                <a:ea typeface="Inconsolata" pitchFamily="34" charset="-122"/>
                <a:cs typeface="Inconsolata" pitchFamily="34" charset="-120"/>
              </a:rPr>
              <a:t>kaankacar.github.io/stellar-layerzero-demos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USDT0 on Stellar</dc:title>
  <dc:subject>PptxGenJS Presentation</dc:subject>
  <dc:creator>PptxGenJS</dc:creator>
  <cp:lastModifiedBy>PptxGenJS</cp:lastModifiedBy>
  <cp:revision>1</cp:revision>
  <dcterms:created xsi:type="dcterms:W3CDTF">2026-10-01T15:35:08Z</dcterms:created>
  <dcterms:modified xsi:type="dcterms:W3CDTF">2026-10-01T15:35:08Z</dcterms:modified>
</cp:coreProperties>
</file>